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6"/>
  </p:notesMasterIdLst>
  <p:sldIdLst>
    <p:sldId id="308" r:id="rId2"/>
    <p:sldId id="286" r:id="rId3"/>
    <p:sldId id="287" r:id="rId4"/>
    <p:sldId id="288" r:id="rId5"/>
    <p:sldId id="325" r:id="rId6"/>
    <p:sldId id="326" r:id="rId7"/>
    <p:sldId id="327" r:id="rId8"/>
    <p:sldId id="290" r:id="rId9"/>
    <p:sldId id="314" r:id="rId10"/>
    <p:sldId id="313" r:id="rId11"/>
    <p:sldId id="328" r:id="rId12"/>
    <p:sldId id="315" r:id="rId13"/>
    <p:sldId id="319" r:id="rId14"/>
    <p:sldId id="329" r:id="rId15"/>
    <p:sldId id="316" r:id="rId16"/>
    <p:sldId id="317" r:id="rId17"/>
    <p:sldId id="318" r:id="rId18"/>
    <p:sldId id="321" r:id="rId19"/>
    <p:sldId id="330" r:id="rId20"/>
    <p:sldId id="331" r:id="rId21"/>
    <p:sldId id="334" r:id="rId22"/>
    <p:sldId id="322" r:id="rId23"/>
    <p:sldId id="323" r:id="rId24"/>
    <p:sldId id="310" r:id="rId2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A50021"/>
    <a:srgbClr val="C8352A"/>
    <a:srgbClr val="D54516"/>
    <a:srgbClr val="A667A4"/>
    <a:srgbClr val="EB6C15"/>
    <a:srgbClr val="7030A0"/>
    <a:srgbClr val="128618"/>
    <a:srgbClr val="BB3C27"/>
    <a:srgbClr val="C24F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418" autoAdjust="0"/>
    <p:restoredTop sz="94734"/>
  </p:normalViewPr>
  <p:slideViewPr>
    <p:cSldViewPr snapToGrid="0">
      <p:cViewPr varScale="1">
        <p:scale>
          <a:sx n="132" d="100"/>
          <a:sy n="132" d="100"/>
        </p:scale>
        <p:origin x="1696" y="4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AC4BE7-729F-4801-82CE-EFD2DDB90BEC}" type="datetimeFigureOut">
              <a:rPr lang="ru-RU" smtClean="0"/>
              <a:t>25.11.2025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5DF08C-262C-49F9-9D08-C4B0BF3F2E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2595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5DF08C-262C-49F9-9D08-C4B0BF3F2E0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73711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5DF08C-262C-49F9-9D08-C4B0BF3F2E0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02201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5DF08C-262C-49F9-9D08-C4B0BF3F2E0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8476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746CB-5BEE-8EB6-9568-4FE65CCBE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40504C9-BE01-8F62-62FA-DA273F91E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C27A2D8-1854-B5A4-2A7B-06FB8294B8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16B1773-8F8C-A12B-A440-68783CB2E7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5DF08C-262C-49F9-9D08-C4B0BF3F2E06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6862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5DF08C-262C-49F9-9D08-C4B0BF3F2E06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23699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5DF08C-262C-49F9-9D08-C4B0BF3F2E06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16534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6931F-25D1-B544-C033-E1587A373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254776C-DEF4-5005-E63F-995717E239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6D4490F-7659-3585-B1C7-949C0A4A6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9B3C10B-8417-85FD-0C8A-68863C8525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5DF08C-262C-49F9-9D08-C4B0BF3F2E06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60496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5DF08C-262C-49F9-9D08-C4B0BF3F2E06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4748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5DF08C-262C-49F9-9D08-C4B0BF3F2E06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25138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5DF08C-262C-49F9-9D08-C4B0BF3F2E06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87131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5DF08C-262C-49F9-9D08-C4B0BF3F2E06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27424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409B8-AED5-B12C-B702-3535702EA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3B08D87-D706-C19B-B570-9846C37EBF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FD32624-6F1F-4A9E-A39A-A74B4D7BFE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EF17987-BEFD-42DE-DC44-EE61E4CCDF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5DF08C-262C-49F9-9D08-C4B0BF3F2E06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32684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616DD-5CB3-2DE0-D8F8-01175B455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0A6C37C-D3F8-8AF9-4C9A-264C410921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09C06A8-AFFA-EBFD-9FDC-D32022B142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9D81E3C-ACC4-85A3-3D71-F3C720B74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5DF08C-262C-49F9-9D08-C4B0BF3F2E06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86335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09495-6914-F0F9-29E2-EF58222C2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72C1E27-8AF4-60A3-19A3-CDF6A35C67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853C7F1-236F-6E79-3E5D-33949500AA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7E5C5A-E8C3-5C75-A724-A7F35E63F6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5DF08C-262C-49F9-9D08-C4B0BF3F2E06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16293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5DF08C-262C-49F9-9D08-C4B0BF3F2E06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5338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5DF08C-262C-49F9-9D08-C4B0BF3F2E06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3937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AC729-0733-4E16-8E4F-B419F822ED0C}" type="datetime1">
              <a:rPr lang="ru-RU" smtClean="0"/>
              <a:t>25.11.2025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114B-FCB6-4DCC-BE93-F9FFABFA54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1408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60F91-A45E-4CCE-98AD-8F09BCB7DC9C}" type="datetime1">
              <a:rPr lang="ru-RU" smtClean="0"/>
              <a:t>25.11.2025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114B-FCB6-4DCC-BE93-F9FFABFA54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6068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DC00A-E643-4BC5-9F5A-6D5527C62705}" type="datetime1">
              <a:rPr lang="ru-RU" smtClean="0"/>
              <a:t>25.11.2025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114B-FCB6-4DCC-BE93-F9FFABFA54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8786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160DB-A61C-47F7-AE67-20E126E04860}" type="datetime1">
              <a:rPr lang="ru-RU" smtClean="0"/>
              <a:t>25.11.2025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114B-FCB6-4DCC-BE93-F9FFABFA54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6862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4E0E3-50B6-4D45-92A0-64D6746557B0}" type="datetime1">
              <a:rPr lang="ru-RU" smtClean="0"/>
              <a:t>25.11.2025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114B-FCB6-4DCC-BE93-F9FFABFA54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9252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1F6FE-4BDF-4CCF-BAE3-55CDD458F053}" type="datetime1">
              <a:rPr lang="ru-RU" smtClean="0"/>
              <a:t>25.11.2025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114B-FCB6-4DCC-BE93-F9FFABFA54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4127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5C456-F0FF-4428-8589-E27781254176}" type="datetime1">
              <a:rPr lang="ru-RU" smtClean="0"/>
              <a:t>25.11.2025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114B-FCB6-4DCC-BE93-F9FFABFA54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7245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8B4B-6141-40EB-8E5D-79FF2BF43C63}" type="datetime1">
              <a:rPr lang="ru-RU" smtClean="0"/>
              <a:t>25.11.2025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114B-FCB6-4DCC-BE93-F9FFABFA54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7897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801D2-B515-4348-A88C-804677893D99}" type="datetime1">
              <a:rPr lang="ru-RU" smtClean="0"/>
              <a:t>25.11.2025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114B-FCB6-4DCC-BE93-F9FFABFA54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0079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C7004-E57E-45AF-AD04-AA125E4373AF}" type="datetime1">
              <a:rPr lang="ru-RU" smtClean="0"/>
              <a:t>25.11.2025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114B-FCB6-4DCC-BE93-F9FFABFA54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1285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76520-0F81-41F8-9469-F3E886E4E5F2}" type="datetime1">
              <a:rPr lang="ru-RU" smtClean="0"/>
              <a:t>25.11.2025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114B-FCB6-4DCC-BE93-F9FFABFA54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2412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48FD1B-FAAD-40BF-8F61-5F9F75D5E4A0}" type="datetime1">
              <a:rPr lang="ru-RU" smtClean="0"/>
              <a:t>25.11.2025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7B114B-FCB6-4DCC-BE93-F9FFABFA54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7150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7.xml"/><Relationship Id="rId5" Type="http://schemas.openxmlformats.org/officeDocument/2006/relationships/slide" Target="slide16.xml"/><Relationship Id="rId4" Type="http://schemas.openxmlformats.org/officeDocument/2006/relationships/slide" Target="slide15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5D50311-0739-708B-A71A-994007FB7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114B-FCB6-4DCC-BE93-F9FFABFA546B}" type="slidenum">
              <a:rPr lang="ru-RU" smtClean="0"/>
              <a:t>1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2967CB3-A19D-5FB0-7A0E-F5979DD298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3117" y="227136"/>
            <a:ext cx="985754" cy="1123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3">
            <a:extLst>
              <a:ext uri="{FF2B5EF4-FFF2-40B4-BE49-F238E27FC236}">
                <a16:creationId xmlns:a16="http://schemas.microsoft.com/office/drawing/2014/main" id="{6E34AF28-265F-7059-EC54-89AB0A03D7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0978281-6D7E-647D-E80C-E0953A2BA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8909" y="0"/>
            <a:ext cx="985754" cy="1123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B57FD030-8FB2-9B21-11FD-8C5FDAD1C09D}"/>
              </a:ext>
            </a:extLst>
          </p:cNvPr>
          <p:cNvSpPr>
            <a:spLocks noGrp="1"/>
          </p:cNvSpPr>
          <p:nvPr/>
        </p:nvSpPr>
        <p:spPr>
          <a:xfrm>
            <a:off x="1335301" y="761247"/>
            <a:ext cx="9351146" cy="149078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kumimoji="0" lang="ru-RU" sz="2000" b="0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МИНОБРНАУКИ РОССИИ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высшего образования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«МИРЭА – Российский технологический университет»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РТУ МИРЭА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9AD723-5E7C-F124-FFA4-E1B4B9D409FF}"/>
              </a:ext>
            </a:extLst>
          </p:cNvPr>
          <p:cNvSpPr txBox="1"/>
          <p:nvPr/>
        </p:nvSpPr>
        <p:spPr>
          <a:xfrm>
            <a:off x="2398498" y="2144859"/>
            <a:ext cx="7726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Институт перспективных технологий и индустриального программирования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43CA03-E30D-D398-01B1-2F6DA2F824EB}"/>
              </a:ext>
            </a:extLst>
          </p:cNvPr>
          <p:cNvSpPr txBox="1"/>
          <p:nvPr/>
        </p:nvSpPr>
        <p:spPr>
          <a:xfrm>
            <a:off x="3048734" y="2454590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индустриального программирования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82AA8C-9BF1-3D87-0421-E83F25C6CA77}"/>
              </a:ext>
            </a:extLst>
          </p:cNvPr>
          <p:cNvSpPr txBox="1"/>
          <p:nvPr/>
        </p:nvSpPr>
        <p:spPr>
          <a:xfrm>
            <a:off x="2312682" y="3044084"/>
            <a:ext cx="756662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«НАЗВАНИЕ ТЕМЫ МАГИСТЕРСКОЙ ДИССЕРТАЦИИ»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842DA4-3271-33A5-A3B1-D8C2BE117100}"/>
              </a:ext>
            </a:extLst>
          </p:cNvPr>
          <p:cNvSpPr txBox="1"/>
          <p:nvPr/>
        </p:nvSpPr>
        <p:spPr>
          <a:xfrm>
            <a:off x="6010874" y="3636080"/>
            <a:ext cx="60945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altLang="ru-RU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Подготовила:</a:t>
            </a:r>
          </a:p>
          <a:p>
            <a:pPr algn="r"/>
            <a:r>
              <a:rPr lang="ru-RU" altLang="ru-RU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студент группы ГСМО-01-</a:t>
            </a:r>
            <a:r>
              <a:rPr lang="en-US" altLang="ru-RU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20</a:t>
            </a:r>
            <a:endParaRPr lang="ru-RU" altLang="ru-RU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r"/>
            <a:r>
              <a:rPr lang="ru-RU" altLang="ru-RU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Фамилия И.О.</a:t>
            </a:r>
          </a:p>
          <a:p>
            <a:pPr algn="r"/>
            <a:endParaRPr lang="ru-RU" altLang="ru-RU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r"/>
            <a:r>
              <a:rPr lang="ru-RU" altLang="ru-RU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Руководитель: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к.т.н.,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доцент кафедры индустриального программирования ИПТИП РТУ МИРЭА</a:t>
            </a:r>
            <a:r>
              <a:rPr lang="ru-RU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Зарипова В.М.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40121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/>
          <p:cNvGrpSpPr/>
          <p:nvPr/>
        </p:nvGrpSpPr>
        <p:grpSpPr>
          <a:xfrm>
            <a:off x="0" y="0"/>
            <a:ext cx="12192000" cy="1289538"/>
            <a:chOff x="0" y="0"/>
            <a:chExt cx="12192000" cy="1289538"/>
          </a:xfrm>
        </p:grpSpPr>
        <p:sp>
          <p:nvSpPr>
            <p:cNvPr id="2" name="Прямоугольник 1"/>
            <p:cNvSpPr/>
            <p:nvPr/>
          </p:nvSpPr>
          <p:spPr>
            <a:xfrm>
              <a:off x="0" y="0"/>
              <a:ext cx="12192000" cy="1289538"/>
            </a:xfrm>
            <a:prstGeom prst="rect">
              <a:avLst/>
            </a:prstGeom>
            <a:solidFill>
              <a:srgbClr val="FFC00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" name="Рисунок 2"/>
            <p:cNvPicPr>
              <a:picLocks noChangeAspect="1"/>
            </p:cNvPicPr>
            <p:nvPr/>
          </p:nvPicPr>
          <p:blipFill>
            <a:blip r:embed="rId2" cstate="print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81138" y="59860"/>
              <a:ext cx="1813895" cy="1169818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C7F781D-409A-D57D-11D3-145AD009FE5C}"/>
              </a:ext>
            </a:extLst>
          </p:cNvPr>
          <p:cNvSpPr txBox="1"/>
          <p:nvPr/>
        </p:nvSpPr>
        <p:spPr>
          <a:xfrm>
            <a:off x="1793782" y="198735"/>
            <a:ext cx="76969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dirty="0">
                <a:cs typeface="Times New Roman" panose="02020603050405020304" pitchFamily="18" charset="0"/>
              </a:rPr>
              <a:t>Актуальность исследования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6642BD-C68D-05C5-66C1-467E5829499C}"/>
              </a:ext>
            </a:extLst>
          </p:cNvPr>
          <p:cNvSpPr txBox="1"/>
          <p:nvPr/>
        </p:nvSpPr>
        <p:spPr>
          <a:xfrm>
            <a:off x="0" y="2157328"/>
            <a:ext cx="12192000" cy="4211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lnSpc>
                <a:spcPct val="150000"/>
              </a:lnSpc>
              <a:spcAft>
                <a:spcPts val="800"/>
              </a:spcAft>
            </a:pPr>
            <a:r>
              <a:rPr lang="ru-RU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Краткое описание причин актуальности исследования со ссылкой на подтверждающую информацию (можно растянуть на два слайда). </a:t>
            </a:r>
          </a:p>
          <a:p>
            <a:pPr indent="450215" algn="ctr">
              <a:lnSpc>
                <a:spcPct val="150000"/>
              </a:lnSpc>
              <a:spcAft>
                <a:spcPts val="800"/>
              </a:spcAft>
            </a:pPr>
            <a:r>
              <a:rPr lang="ru-RU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Слайд должен отвечать на вопросы: почему актуально, кому актуально?</a:t>
            </a:r>
          </a:p>
          <a:p>
            <a:pPr indent="450215" algn="ctr">
              <a:lnSpc>
                <a:spcPct val="150000"/>
              </a:lnSpc>
              <a:spcAft>
                <a:spcPts val="800"/>
              </a:spcAft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Это самый важный слайд вашей презентации поскольку оправдывает почему вы вообще полгода потратили на решение этой задачи.</a:t>
            </a:r>
          </a:p>
          <a:p>
            <a:pPr indent="450215" algn="ctr">
              <a:lnSpc>
                <a:spcPct val="150000"/>
              </a:lnSpc>
              <a:spcAft>
                <a:spcPts val="800"/>
              </a:spcAft>
            </a:pP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Слайд должен заканчиваться проблемой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которую вы будете решать в своей диссертации.</a:t>
            </a:r>
            <a:endParaRPr lang="ru-RU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0C8AA5ED-3AF3-D061-42FF-DBA956A15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90722" y="6558272"/>
            <a:ext cx="2743200" cy="365125"/>
          </a:xfrm>
        </p:spPr>
        <p:txBody>
          <a:bodyPr/>
          <a:lstStyle/>
          <a:p>
            <a:fld id="{227B114B-FCB6-4DCC-BE93-F9FFABFA546B}" type="slidenum">
              <a:rPr lang="ru-RU" sz="2000" b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ru-RU" sz="20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1623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20367ED-9F01-0B12-28F0-0D43377E50D5}"/>
              </a:ext>
            </a:extLst>
          </p:cNvPr>
          <p:cNvSpPr txBox="1"/>
          <p:nvPr/>
        </p:nvSpPr>
        <p:spPr>
          <a:xfrm>
            <a:off x="170792" y="2155365"/>
            <a:ext cx="26603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 исследования: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Инновационная деятельность в России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6580AD-403B-A28B-1BC8-5B226957E890}"/>
              </a:ext>
            </a:extLst>
          </p:cNvPr>
          <p:cNvSpPr txBox="1"/>
          <p:nvPr/>
        </p:nvSpPr>
        <p:spPr>
          <a:xfrm>
            <a:off x="3313536" y="1779435"/>
            <a:ext cx="252042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 исследования: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показателей инновационной деятельности в России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E3E46E3-3CDA-2080-586D-69AA3AE73E80}"/>
              </a:ext>
            </a:extLst>
          </p:cNvPr>
          <p:cNvSpPr txBox="1"/>
          <p:nvPr/>
        </p:nvSpPr>
        <p:spPr>
          <a:xfrm>
            <a:off x="1356855" y="4040915"/>
            <a:ext cx="37293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</a:rPr>
              <a:t>Цель исследования:</a:t>
            </a:r>
            <a:endParaRPr lang="en-US" sz="1800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ctr"/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Разработка комплексного метода оценки инновационной деятельности регионов, основанная на уровне научного развития и уровне коммерциализации инноваций субъекта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Стрелка: вниз 25">
            <a:extLst>
              <a:ext uri="{FF2B5EF4-FFF2-40B4-BE49-F238E27FC236}">
                <a16:creationId xmlns:a16="http://schemas.microsoft.com/office/drawing/2014/main" id="{4754915A-9555-9DAD-6AC6-720688DB513F}"/>
              </a:ext>
            </a:extLst>
          </p:cNvPr>
          <p:cNvSpPr/>
          <p:nvPr/>
        </p:nvSpPr>
        <p:spPr>
          <a:xfrm rot="16200000">
            <a:off x="5185219" y="3903089"/>
            <a:ext cx="303320" cy="733527"/>
          </a:xfrm>
          <a:prstGeom prst="downArrow">
            <a:avLst/>
          </a:prstGeom>
          <a:solidFill>
            <a:schemeClr val="bg2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Стрелка: вниз 26">
            <a:extLst>
              <a:ext uri="{FF2B5EF4-FFF2-40B4-BE49-F238E27FC236}">
                <a16:creationId xmlns:a16="http://schemas.microsoft.com/office/drawing/2014/main" id="{6508A563-5FD2-A415-7211-E7CC7B7B72D5}"/>
              </a:ext>
            </a:extLst>
          </p:cNvPr>
          <p:cNvSpPr/>
          <p:nvPr/>
        </p:nvSpPr>
        <p:spPr>
          <a:xfrm rot="16200000">
            <a:off x="5557508" y="4689813"/>
            <a:ext cx="303320" cy="733527"/>
          </a:xfrm>
          <a:prstGeom prst="downArrow">
            <a:avLst/>
          </a:prstGeom>
          <a:solidFill>
            <a:schemeClr val="bg2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2F0636C-411D-9B26-D6C7-998C0095FB93}"/>
              </a:ext>
            </a:extLst>
          </p:cNvPr>
          <p:cNvSpPr/>
          <p:nvPr/>
        </p:nvSpPr>
        <p:spPr>
          <a:xfrm>
            <a:off x="6180363" y="1368044"/>
            <a:ext cx="5914003" cy="5448743"/>
          </a:xfrm>
          <a:prstGeom prst="rect">
            <a:avLst/>
          </a:prstGeom>
          <a:noFill/>
          <a:ln w="3810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исследования:</a:t>
            </a:r>
          </a:p>
          <a:p>
            <a:pPr algn="just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Проанализировать существующие методики оценки инновационной деятельности регионов</a:t>
            </a:r>
          </a:p>
          <a:p>
            <a:pPr algn="just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Сформировать информационную базу статистического исследования</a:t>
            </a:r>
          </a:p>
          <a:p>
            <a:pPr algn="just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Оценить текущую динамику основных показателей инновационной деятельности в России</a:t>
            </a:r>
          </a:p>
          <a:p>
            <a:pPr algn="just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Выделить результативный признак инновационной деятельности региона, оценить степень влияния исследуемых факторов на данный признак</a:t>
            </a:r>
          </a:p>
          <a:p>
            <a:pPr algn="just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Классифицировать регионы методом иерархической кластеризации по исследуемым признакам</a:t>
            </a:r>
          </a:p>
          <a:p>
            <a:pPr algn="just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Оценить структурные изменения в составе кластеров</a:t>
            </a:r>
          </a:p>
          <a:p>
            <a:pPr algn="just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Построить инновационный рейтинг регионов по исследуемым признакам, сравнить его с рейтингом инновационного развития субъектов РФ</a:t>
            </a:r>
          </a:p>
        </p:txBody>
      </p:sp>
      <p:pic>
        <p:nvPicPr>
          <p:cNvPr id="11" name="Рисунок 10" descr="Контрольный список со сплошной заливкой">
            <a:extLst>
              <a:ext uri="{FF2B5EF4-FFF2-40B4-BE49-F238E27FC236}">
                <a16:creationId xmlns:a16="http://schemas.microsoft.com/office/drawing/2014/main" id="{20C57834-31C8-2990-4C00-4E80AAF0C2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0240" y="4421513"/>
            <a:ext cx="914400" cy="914400"/>
          </a:xfrm>
          <a:prstGeom prst="rect">
            <a:avLst/>
          </a:prstGeom>
        </p:spPr>
      </p:pic>
      <p:pic>
        <p:nvPicPr>
          <p:cNvPr id="14" name="Рисунок 13" descr="Мозговой штурм группы контур">
            <a:extLst>
              <a:ext uri="{FF2B5EF4-FFF2-40B4-BE49-F238E27FC236}">
                <a16:creationId xmlns:a16="http://schemas.microsoft.com/office/drawing/2014/main" id="{2690B789-8FDB-CA9C-35C9-1A6ED1B072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50675" y="1619659"/>
            <a:ext cx="914400" cy="914400"/>
          </a:xfrm>
          <a:prstGeom prst="rect">
            <a:avLst/>
          </a:prstGeom>
        </p:spPr>
      </p:pic>
      <p:pic>
        <p:nvPicPr>
          <p:cNvPr id="16" name="Рисунок 15" descr="Человек с идеей контур">
            <a:extLst>
              <a:ext uri="{FF2B5EF4-FFF2-40B4-BE49-F238E27FC236}">
                <a16:creationId xmlns:a16="http://schemas.microsoft.com/office/drawing/2014/main" id="{DBDC358A-A0FF-EB72-DB68-1FB6ACBD10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172" y="1593254"/>
            <a:ext cx="914400" cy="914400"/>
          </a:xfrm>
          <a:prstGeom prst="rect">
            <a:avLst/>
          </a:prstGeom>
        </p:spPr>
      </p:pic>
      <p:sp>
        <p:nvSpPr>
          <p:cNvPr id="23" name="Стрелка: вниз 22">
            <a:extLst>
              <a:ext uri="{FF2B5EF4-FFF2-40B4-BE49-F238E27FC236}">
                <a16:creationId xmlns:a16="http://schemas.microsoft.com/office/drawing/2014/main" id="{58A11DEF-0A9A-9AA3-A31A-F893ED81C44F}"/>
              </a:ext>
            </a:extLst>
          </p:cNvPr>
          <p:cNvSpPr/>
          <p:nvPr/>
        </p:nvSpPr>
        <p:spPr>
          <a:xfrm rot="16200000">
            <a:off x="5185219" y="5476536"/>
            <a:ext cx="303320" cy="733527"/>
          </a:xfrm>
          <a:prstGeom prst="downArrow">
            <a:avLst/>
          </a:prstGeom>
          <a:solidFill>
            <a:schemeClr val="bg2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Номер слайда 20">
            <a:extLst>
              <a:ext uri="{FF2B5EF4-FFF2-40B4-BE49-F238E27FC236}">
                <a16:creationId xmlns:a16="http://schemas.microsoft.com/office/drawing/2014/main" id="{33703662-1EA5-8FF1-C528-53222D19C6DE}"/>
              </a:ext>
            </a:extLst>
          </p:cNvPr>
          <p:cNvSpPr txBox="1">
            <a:spLocks/>
          </p:cNvSpPr>
          <p:nvPr/>
        </p:nvSpPr>
        <p:spPr>
          <a:xfrm>
            <a:off x="9536262" y="653016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27B114B-FCB6-4DCC-BE93-F9FFABFA546B}" type="slidenum">
              <a:rPr lang="ru-RU" sz="2000" b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ru-RU" sz="20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1C4FEEAD-386A-314F-8BDF-6E501BF3C128}"/>
              </a:ext>
            </a:extLst>
          </p:cNvPr>
          <p:cNvGrpSpPr/>
          <p:nvPr/>
        </p:nvGrpSpPr>
        <p:grpSpPr>
          <a:xfrm>
            <a:off x="0" y="0"/>
            <a:ext cx="12192000" cy="1289538"/>
            <a:chOff x="0" y="0"/>
            <a:chExt cx="12192000" cy="1289538"/>
          </a:xfrm>
        </p:grpSpPr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A86E7A50-3B8A-EA5A-CD8E-B1FE882F458C}"/>
                </a:ext>
              </a:extLst>
            </p:cNvPr>
            <p:cNvSpPr/>
            <p:nvPr/>
          </p:nvSpPr>
          <p:spPr>
            <a:xfrm>
              <a:off x="0" y="0"/>
              <a:ext cx="12192000" cy="1289538"/>
            </a:xfrm>
            <a:prstGeom prst="rect">
              <a:avLst/>
            </a:prstGeom>
            <a:solidFill>
              <a:srgbClr val="FFC00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4C7CC0FD-1537-F37A-235D-E2CADF8DFA6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81138" y="59860"/>
              <a:ext cx="1813895" cy="1169818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33548657-7791-6035-CB38-25CA240E24CD}"/>
              </a:ext>
            </a:extLst>
          </p:cNvPr>
          <p:cNvSpPr txBox="1"/>
          <p:nvPr/>
        </p:nvSpPr>
        <p:spPr>
          <a:xfrm>
            <a:off x="-622852" y="-5154"/>
            <a:ext cx="1054873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cs typeface="Times New Roman" panose="02020603050405020304" pitchFamily="18" charset="0"/>
              </a:rPr>
              <a:t>Объект, предмет, цель </a:t>
            </a:r>
          </a:p>
          <a:p>
            <a:pPr algn="ctr"/>
            <a:r>
              <a:rPr lang="ru-RU" sz="4000" dirty="0">
                <a:cs typeface="Times New Roman" panose="02020603050405020304" pitchFamily="18" charset="0"/>
              </a:rPr>
              <a:t>и задачи исследования</a:t>
            </a:r>
          </a:p>
        </p:txBody>
      </p:sp>
    </p:spTree>
    <p:extLst>
      <p:ext uri="{BB962C8B-B14F-4D97-AF65-F5344CB8AC3E}">
        <p14:creationId xmlns:p14="http://schemas.microsoft.com/office/powerpoint/2010/main" val="2837088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0608816" y="0"/>
            <a:ext cx="1583184" cy="6858000"/>
          </a:xfrm>
          <a:prstGeom prst="rect">
            <a:avLst/>
          </a:prstGeom>
          <a:solidFill>
            <a:srgbClr val="FFC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highlight>
                <a:srgbClr val="FFC0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648C70-7882-4544-9C67-BFB2751989B6}"/>
              </a:ext>
            </a:extLst>
          </p:cNvPr>
          <p:cNvSpPr txBox="1"/>
          <p:nvPr/>
        </p:nvSpPr>
        <p:spPr>
          <a:xfrm>
            <a:off x="1833544" y="107980"/>
            <a:ext cx="7453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Оглавление  </a:t>
            </a:r>
          </a:p>
        </p:txBody>
      </p:sp>
      <p:sp>
        <p:nvSpPr>
          <p:cNvPr id="38" name="Номер слайда 20">
            <a:extLst>
              <a:ext uri="{FF2B5EF4-FFF2-40B4-BE49-F238E27FC236}">
                <a16:creationId xmlns:a16="http://schemas.microsoft.com/office/drawing/2014/main" id="{7DB8EF2C-11E4-194C-1F59-DF22F6BD33DC}"/>
              </a:ext>
            </a:extLst>
          </p:cNvPr>
          <p:cNvSpPr txBox="1">
            <a:spLocks/>
          </p:cNvSpPr>
          <p:nvPr/>
        </p:nvSpPr>
        <p:spPr>
          <a:xfrm>
            <a:off x="9536262" y="653016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27B114B-FCB6-4DCC-BE93-F9FFABFA546B}" type="slidenum">
              <a:rPr lang="ru-RU" sz="20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ru-RU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C867E1-8166-B374-0A4F-E5B9A355C9AD}"/>
              </a:ext>
            </a:extLst>
          </p:cNvPr>
          <p:cNvSpPr txBox="1">
            <a:spLocks noChangeArrowheads="1"/>
          </p:cNvSpPr>
          <p:nvPr/>
        </p:nvSpPr>
        <p:spPr>
          <a:xfrm>
            <a:off x="406866" y="897142"/>
            <a:ext cx="8229600" cy="44116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ru-RU" altLang="ru-RU" sz="2600" b="1" dirty="0"/>
              <a:t>Введение</a:t>
            </a:r>
          </a:p>
          <a:p>
            <a:pPr>
              <a:lnSpc>
                <a:spcPct val="80000"/>
              </a:lnSpc>
            </a:pPr>
            <a:r>
              <a:rPr lang="ru-RU" altLang="ru-RU" sz="2600" b="1" dirty="0">
                <a:hlinkClick r:id="rId2" action="ppaction://hlinksldjump"/>
              </a:rPr>
              <a:t>Глава 1</a:t>
            </a:r>
            <a:r>
              <a:rPr lang="ru-RU" altLang="ru-RU" sz="2600" dirty="0"/>
              <a:t>. Наименование 1-й главы</a:t>
            </a:r>
          </a:p>
          <a:p>
            <a:pPr>
              <a:lnSpc>
                <a:spcPct val="80000"/>
              </a:lnSpc>
            </a:pPr>
            <a:r>
              <a:rPr lang="ru-RU" altLang="ru-RU" sz="2600" b="1" dirty="0">
                <a:hlinkClick r:id="rId3" action="ppaction://hlinksldjump"/>
              </a:rPr>
              <a:t>Глава 2</a:t>
            </a:r>
            <a:r>
              <a:rPr lang="ru-RU" altLang="ru-RU" sz="2600" b="1" dirty="0"/>
              <a:t>.</a:t>
            </a:r>
            <a:r>
              <a:rPr lang="ru-RU" altLang="ru-RU" sz="2600" dirty="0"/>
              <a:t> Наименование 2-й главы</a:t>
            </a:r>
          </a:p>
          <a:p>
            <a:pPr>
              <a:lnSpc>
                <a:spcPct val="80000"/>
              </a:lnSpc>
            </a:pPr>
            <a:r>
              <a:rPr lang="ru-RU" altLang="ru-RU" sz="2600" b="1" dirty="0">
                <a:hlinkClick r:id="rId4" action="ppaction://hlinksldjump"/>
              </a:rPr>
              <a:t>Глава 3</a:t>
            </a:r>
            <a:r>
              <a:rPr lang="ru-RU" altLang="ru-RU" sz="2600" b="1" dirty="0"/>
              <a:t>. </a:t>
            </a:r>
            <a:r>
              <a:rPr lang="ru-RU" altLang="ru-RU" sz="2600" dirty="0"/>
              <a:t>Наименование 3-й главы</a:t>
            </a:r>
            <a:endParaRPr lang="ru-RU" altLang="ru-RU" sz="2600" b="1" dirty="0"/>
          </a:p>
          <a:p>
            <a:pPr>
              <a:lnSpc>
                <a:spcPct val="80000"/>
              </a:lnSpc>
            </a:pPr>
            <a:r>
              <a:rPr lang="ru-RU" altLang="ru-RU" sz="2600" b="1" dirty="0">
                <a:hlinkClick r:id="rId5" action="ppaction://hlinksldjump"/>
              </a:rPr>
              <a:t>Глава 4</a:t>
            </a:r>
            <a:r>
              <a:rPr lang="ru-RU" altLang="ru-RU" sz="2600" b="1" dirty="0"/>
              <a:t>.</a:t>
            </a:r>
            <a:r>
              <a:rPr lang="ru-RU" altLang="ru-RU" sz="2600" dirty="0"/>
              <a:t> Наименование 4-й главы </a:t>
            </a:r>
            <a:endParaRPr lang="ru-RU" altLang="ru-RU" sz="2600" b="1" dirty="0"/>
          </a:p>
          <a:p>
            <a:pPr>
              <a:lnSpc>
                <a:spcPct val="80000"/>
              </a:lnSpc>
            </a:pPr>
            <a:r>
              <a:rPr lang="ru-RU" altLang="ru-RU" sz="2600" b="1" dirty="0"/>
              <a:t>Научная новизна и значимость</a:t>
            </a:r>
          </a:p>
          <a:p>
            <a:pPr>
              <a:lnSpc>
                <a:spcPct val="80000"/>
              </a:lnSpc>
            </a:pPr>
            <a:r>
              <a:rPr lang="ru-RU" altLang="ru-RU" sz="2600" b="1" dirty="0"/>
              <a:t>Список опубликованных работ</a:t>
            </a:r>
          </a:p>
          <a:p>
            <a:pPr>
              <a:lnSpc>
                <a:spcPct val="80000"/>
              </a:lnSpc>
            </a:pPr>
            <a:r>
              <a:rPr lang="ru-RU" altLang="ru-RU" sz="2600" b="1" dirty="0"/>
              <a:t>Акт внедрения</a:t>
            </a:r>
          </a:p>
        </p:txBody>
      </p:sp>
    </p:spTree>
    <p:extLst>
      <p:ext uri="{BB962C8B-B14F-4D97-AF65-F5344CB8AC3E}">
        <p14:creationId xmlns:p14="http://schemas.microsoft.com/office/powerpoint/2010/main" val="2912097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5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85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5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5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2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450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06A06-F564-2877-E2CE-17A3F93BA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E1FD82FB-D428-9237-D7B6-87199D0808AD}"/>
              </a:ext>
            </a:extLst>
          </p:cNvPr>
          <p:cNvGrpSpPr/>
          <p:nvPr/>
        </p:nvGrpSpPr>
        <p:grpSpPr>
          <a:xfrm>
            <a:off x="0" y="0"/>
            <a:ext cx="12192000" cy="1289538"/>
            <a:chOff x="0" y="0"/>
            <a:chExt cx="12192000" cy="1289538"/>
          </a:xfrm>
        </p:grpSpPr>
        <p:sp>
          <p:nvSpPr>
            <p:cNvPr id="2" name="Прямоугольник 1">
              <a:extLst>
                <a:ext uri="{FF2B5EF4-FFF2-40B4-BE49-F238E27FC236}">
                  <a16:creationId xmlns:a16="http://schemas.microsoft.com/office/drawing/2014/main" id="{922B41B8-2C1A-9909-76D5-CED35D192DA3}"/>
                </a:ext>
              </a:extLst>
            </p:cNvPr>
            <p:cNvSpPr/>
            <p:nvPr/>
          </p:nvSpPr>
          <p:spPr>
            <a:xfrm>
              <a:off x="0" y="0"/>
              <a:ext cx="12192000" cy="1289538"/>
            </a:xfrm>
            <a:prstGeom prst="rect">
              <a:avLst/>
            </a:prstGeom>
            <a:solidFill>
              <a:srgbClr val="FFC00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8ED57226-C306-4EC2-0C91-CAF01C74ED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81138" y="59860"/>
              <a:ext cx="1813895" cy="1169818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B2A90E2-7BF6-2F88-FBC5-F85445C26F37}"/>
              </a:ext>
            </a:extLst>
          </p:cNvPr>
          <p:cNvSpPr txBox="1"/>
          <p:nvPr/>
        </p:nvSpPr>
        <p:spPr>
          <a:xfrm>
            <a:off x="263047" y="198735"/>
            <a:ext cx="9921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cs typeface="Times New Roman" panose="02020603050405020304" pitchFamily="18" charset="0"/>
              </a:rPr>
              <a:t>Результаты исследования предметной области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08311E-F6A8-CBBA-D025-B20B1E2E875F}"/>
              </a:ext>
            </a:extLst>
          </p:cNvPr>
          <p:cNvSpPr txBox="1"/>
          <p:nvPr/>
        </p:nvSpPr>
        <p:spPr>
          <a:xfrm>
            <a:off x="0" y="2157328"/>
            <a:ext cx="12192000" cy="2344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lnSpc>
                <a:spcPct val="150000"/>
              </a:lnSpc>
              <a:spcAft>
                <a:spcPts val="800"/>
              </a:spcAft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Терминология</a:t>
            </a:r>
          </a:p>
          <a:p>
            <a:pPr indent="450215" algn="ctr">
              <a:lnSpc>
                <a:spcPct val="150000"/>
              </a:lnSpc>
              <a:spcAft>
                <a:spcPts val="800"/>
              </a:spcAft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Основные выводы по предметной области (приводятся для того чтобы обосновать направление дальнейших исследований рынка аналогов) – общее звучание. Тема вкратце актуальна потому что…. 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Есть дефицит в таком-то и таком-то ПО.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635C3141-9029-94D6-77E8-3CC7B931D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90722" y="6558272"/>
            <a:ext cx="2743200" cy="365125"/>
          </a:xfrm>
        </p:spPr>
        <p:txBody>
          <a:bodyPr/>
          <a:lstStyle/>
          <a:p>
            <a:fld id="{227B114B-FCB6-4DCC-BE93-F9FFABFA546B}" type="slidenum">
              <a:rPr lang="ru-RU" sz="2000" b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ru-RU" sz="20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0962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254CB-B67A-0FFA-705D-469B1E31C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3BC03D63-2A40-F260-1309-524AC41EC614}"/>
              </a:ext>
            </a:extLst>
          </p:cNvPr>
          <p:cNvGrpSpPr/>
          <p:nvPr/>
        </p:nvGrpSpPr>
        <p:grpSpPr>
          <a:xfrm>
            <a:off x="0" y="0"/>
            <a:ext cx="12192000" cy="1289538"/>
            <a:chOff x="0" y="0"/>
            <a:chExt cx="12192000" cy="1289538"/>
          </a:xfrm>
        </p:grpSpPr>
        <p:sp>
          <p:nvSpPr>
            <p:cNvPr id="2" name="Прямоугольник 1">
              <a:extLst>
                <a:ext uri="{FF2B5EF4-FFF2-40B4-BE49-F238E27FC236}">
                  <a16:creationId xmlns:a16="http://schemas.microsoft.com/office/drawing/2014/main" id="{E3CD7F7F-648E-AAE6-1DE8-E5B38038E852}"/>
                </a:ext>
              </a:extLst>
            </p:cNvPr>
            <p:cNvSpPr/>
            <p:nvPr/>
          </p:nvSpPr>
          <p:spPr>
            <a:xfrm>
              <a:off x="0" y="0"/>
              <a:ext cx="12192000" cy="1289538"/>
            </a:xfrm>
            <a:prstGeom prst="rect">
              <a:avLst/>
            </a:prstGeom>
            <a:solidFill>
              <a:srgbClr val="FFC00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C55D8C9F-4BB2-2658-0697-8BEE2AEA89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81138" y="59860"/>
              <a:ext cx="1813895" cy="1169818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7D130D7-FA89-D3E3-B87C-09C763223E9D}"/>
              </a:ext>
            </a:extLst>
          </p:cNvPr>
          <p:cNvSpPr txBox="1"/>
          <p:nvPr/>
        </p:nvSpPr>
        <p:spPr>
          <a:xfrm>
            <a:off x="263047" y="198735"/>
            <a:ext cx="99211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cs typeface="Times New Roman" panose="02020603050405020304" pitchFamily="18" charset="0"/>
              </a:rPr>
              <a:t>Результаты исследования предметной области. Критерии </a:t>
            </a:r>
            <a:r>
              <a:rPr lang="ru-RU" sz="3600">
                <a:cs typeface="Times New Roman" panose="02020603050405020304" pitchFamily="18" charset="0"/>
              </a:rPr>
              <a:t>поиска аналогов</a:t>
            </a:r>
            <a:endParaRPr lang="ru-RU" sz="3600" dirty="0"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2ADA89-A74A-0E75-5E9B-2C5653CE1B03}"/>
              </a:ext>
            </a:extLst>
          </p:cNvPr>
          <p:cNvSpPr txBox="1"/>
          <p:nvPr/>
        </p:nvSpPr>
        <p:spPr>
          <a:xfrm>
            <a:off x="163629" y="1318516"/>
            <a:ext cx="11540691" cy="5524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lnSpc>
                <a:spcPct val="150000"/>
              </a:lnSpc>
              <a:spcAft>
                <a:spcPts val="800"/>
              </a:spcAft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Критерии поиска аналогов: </a:t>
            </a:r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Цель анализа</a:t>
            </a:r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FontTx/>
              <a:buChar char="-"/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Функциональные критерии (общий пул функций которыми должен обладать идеа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льный аналог)</a:t>
            </a:r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FontTx/>
              <a:buChar char="-"/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Технические критерии (какие-то особенности технического стека на который мы ориентируемся)</a:t>
            </a:r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Пользовательские критерии (какие основные пользовательские требования и нефункциональные требования должен закрывать аналог)</a:t>
            </a:r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Бизнес критерии (Монетизация, Распространение, Наш/Зарубежный, Ограничения)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4D2FF0E0-AFD7-B2AA-C805-2A9235923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90722" y="6558272"/>
            <a:ext cx="2743200" cy="365125"/>
          </a:xfrm>
        </p:spPr>
        <p:txBody>
          <a:bodyPr/>
          <a:lstStyle/>
          <a:p>
            <a:fld id="{227B114B-FCB6-4DCC-BE93-F9FFABFA546B}" type="slidenum">
              <a:rPr lang="ru-RU" sz="2000" b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ru-RU" sz="20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2261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6E743-8D6A-5480-6402-41F331189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CA32895-A5CA-AB45-0EC1-47206BF5BD5A}"/>
              </a:ext>
            </a:extLst>
          </p:cNvPr>
          <p:cNvGrpSpPr/>
          <p:nvPr/>
        </p:nvGrpSpPr>
        <p:grpSpPr>
          <a:xfrm>
            <a:off x="0" y="0"/>
            <a:ext cx="12192000" cy="1289538"/>
            <a:chOff x="0" y="0"/>
            <a:chExt cx="12192000" cy="1289538"/>
          </a:xfrm>
        </p:grpSpPr>
        <p:sp>
          <p:nvSpPr>
            <p:cNvPr id="2" name="Прямоугольник 1">
              <a:extLst>
                <a:ext uri="{FF2B5EF4-FFF2-40B4-BE49-F238E27FC236}">
                  <a16:creationId xmlns:a16="http://schemas.microsoft.com/office/drawing/2014/main" id="{227BE696-8F00-238C-794D-EA5F238D701A}"/>
                </a:ext>
              </a:extLst>
            </p:cNvPr>
            <p:cNvSpPr/>
            <p:nvPr/>
          </p:nvSpPr>
          <p:spPr>
            <a:xfrm>
              <a:off x="0" y="0"/>
              <a:ext cx="12192000" cy="1289538"/>
            </a:xfrm>
            <a:prstGeom prst="rect">
              <a:avLst/>
            </a:prstGeom>
            <a:solidFill>
              <a:srgbClr val="FFC00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DDCB4737-B1C7-934C-5A5E-524C7D874E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81138" y="59860"/>
              <a:ext cx="1813895" cy="1169818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9A8675F-0A6D-B6C3-8118-65B62C4095A5}"/>
              </a:ext>
            </a:extLst>
          </p:cNvPr>
          <p:cNvSpPr txBox="1"/>
          <p:nvPr/>
        </p:nvSpPr>
        <p:spPr>
          <a:xfrm>
            <a:off x="263047" y="198735"/>
            <a:ext cx="9921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cs typeface="Times New Roman" panose="02020603050405020304" pitchFamily="18" charset="0"/>
              </a:rPr>
              <a:t>Результаты исследования предметной области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297509-DE2C-AD42-5F0E-7538270F98D7}"/>
              </a:ext>
            </a:extLst>
          </p:cNvPr>
          <p:cNvSpPr txBox="1"/>
          <p:nvPr/>
        </p:nvSpPr>
        <p:spPr>
          <a:xfrm>
            <a:off x="263047" y="1318516"/>
            <a:ext cx="1183198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Выявленные критерии помогут: </a:t>
            </a:r>
            <a:b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Определить, какие функции востребованы пользователями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Найти пробелы, которые не покрывают существующие продукты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Сформировать конкурентные преимущества будущего решения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Оценить реалистичность и направление разработки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Снизить риски создания ненужного или слабого продукта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Сформировать корректные требования и архитектуру решения</a:t>
            </a: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954445E6-04F2-76CD-DC48-82155423C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90722" y="6558272"/>
            <a:ext cx="2743200" cy="365125"/>
          </a:xfrm>
        </p:spPr>
        <p:txBody>
          <a:bodyPr/>
          <a:lstStyle/>
          <a:p>
            <a:fld id="{227B114B-FCB6-4DCC-BE93-F9FFABFA546B}" type="slidenum">
              <a:rPr lang="ru-RU" sz="2000" b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ru-RU" sz="20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4135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7F781D-409A-D57D-11D3-145AD009FE5C}"/>
              </a:ext>
            </a:extLst>
          </p:cNvPr>
          <p:cNvSpPr txBox="1"/>
          <p:nvPr/>
        </p:nvSpPr>
        <p:spPr>
          <a:xfrm>
            <a:off x="-540742" y="222286"/>
            <a:ext cx="107249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исследования</a:t>
            </a:r>
          </a:p>
        </p:txBody>
      </p:sp>
      <p:sp>
        <p:nvSpPr>
          <p:cNvPr id="15" name="Номер слайда 20">
            <a:extLst>
              <a:ext uri="{FF2B5EF4-FFF2-40B4-BE49-F238E27FC236}">
                <a16:creationId xmlns:a16="http://schemas.microsoft.com/office/drawing/2014/main" id="{90155156-79BF-FCFE-CE51-D40CE7FFE78B}"/>
              </a:ext>
            </a:extLst>
          </p:cNvPr>
          <p:cNvSpPr txBox="1">
            <a:spLocks/>
          </p:cNvSpPr>
          <p:nvPr/>
        </p:nvSpPr>
        <p:spPr>
          <a:xfrm>
            <a:off x="9536262" y="653016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27B114B-FCB6-4DCC-BE93-F9FFABFA546B}" type="slidenum">
              <a:rPr lang="ru-RU" sz="2000" b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ru-RU" sz="20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61A17FCB-DD4F-50C7-FE11-859E6910DBFC}"/>
              </a:ext>
            </a:extLst>
          </p:cNvPr>
          <p:cNvGrpSpPr/>
          <p:nvPr/>
        </p:nvGrpSpPr>
        <p:grpSpPr>
          <a:xfrm>
            <a:off x="0" y="0"/>
            <a:ext cx="12192000" cy="1289538"/>
            <a:chOff x="0" y="0"/>
            <a:chExt cx="12192000" cy="1289538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CFF31385-C6F0-63A1-8599-14BA045EBDFB}"/>
                </a:ext>
              </a:extLst>
            </p:cNvPr>
            <p:cNvSpPr/>
            <p:nvPr/>
          </p:nvSpPr>
          <p:spPr>
            <a:xfrm>
              <a:off x="0" y="0"/>
              <a:ext cx="12192000" cy="1289538"/>
            </a:xfrm>
            <a:prstGeom prst="rect">
              <a:avLst/>
            </a:prstGeom>
            <a:solidFill>
              <a:srgbClr val="FFC00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E924C005-4552-404D-BB25-D1A0BBD530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81138" y="59860"/>
              <a:ext cx="1813895" cy="1169818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746D183-C157-B29C-0006-093A0878D39B}"/>
              </a:ext>
            </a:extLst>
          </p:cNvPr>
          <p:cNvSpPr txBox="1"/>
          <p:nvPr/>
        </p:nvSpPr>
        <p:spPr>
          <a:xfrm>
            <a:off x="1325217" y="244862"/>
            <a:ext cx="80639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cs typeface="Times New Roman" panose="02020603050405020304" pitchFamily="18" charset="0"/>
              </a:rPr>
              <a:t>Сравнительный анализ аналогов</a:t>
            </a: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0DD9D07A-2A97-29D8-3FCA-F091318CF3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017849"/>
              </p:ext>
            </p:extLst>
          </p:nvPr>
        </p:nvGraphicFramePr>
        <p:xfrm>
          <a:off x="354202" y="1583732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61542303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4528155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9654387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84352095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317754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Аналоги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Функция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Функция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Функция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Функция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7847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Аналог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372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Аналог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606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Аналог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048713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58B9C4C-E2C5-5128-F476-DF4983970592}"/>
              </a:ext>
            </a:extLst>
          </p:cNvPr>
          <p:cNvSpPr txBox="1"/>
          <p:nvPr/>
        </p:nvSpPr>
        <p:spPr>
          <a:xfrm>
            <a:off x="0" y="5202138"/>
            <a:ext cx="12192000" cy="45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>
              <a:lnSpc>
                <a:spcPct val="150000"/>
              </a:lnSpc>
              <a:spcAft>
                <a:spcPts val="800"/>
              </a:spcAft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Вывод: ни один из существующих аналогов не покрывает весь требуемый функционал</a:t>
            </a:r>
          </a:p>
        </p:txBody>
      </p:sp>
    </p:spTree>
    <p:extLst>
      <p:ext uri="{BB962C8B-B14F-4D97-AF65-F5344CB8AC3E}">
        <p14:creationId xmlns:p14="http://schemas.microsoft.com/office/powerpoint/2010/main" val="3610056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7F781D-409A-D57D-11D3-145AD009FE5C}"/>
              </a:ext>
            </a:extLst>
          </p:cNvPr>
          <p:cNvSpPr txBox="1"/>
          <p:nvPr/>
        </p:nvSpPr>
        <p:spPr>
          <a:xfrm>
            <a:off x="-540742" y="222286"/>
            <a:ext cx="107249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исследования</a:t>
            </a:r>
          </a:p>
        </p:txBody>
      </p:sp>
      <p:sp>
        <p:nvSpPr>
          <p:cNvPr id="15" name="Номер слайда 20">
            <a:extLst>
              <a:ext uri="{FF2B5EF4-FFF2-40B4-BE49-F238E27FC236}">
                <a16:creationId xmlns:a16="http://schemas.microsoft.com/office/drawing/2014/main" id="{90155156-79BF-FCFE-CE51-D40CE7FFE78B}"/>
              </a:ext>
            </a:extLst>
          </p:cNvPr>
          <p:cNvSpPr txBox="1">
            <a:spLocks/>
          </p:cNvSpPr>
          <p:nvPr/>
        </p:nvSpPr>
        <p:spPr>
          <a:xfrm>
            <a:off x="9536262" y="653016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27B114B-FCB6-4DCC-BE93-F9FFABFA546B}" type="slidenum">
              <a:rPr lang="ru-RU" sz="2000" b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ru-RU" sz="20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61A17FCB-DD4F-50C7-FE11-859E6910DBFC}"/>
              </a:ext>
            </a:extLst>
          </p:cNvPr>
          <p:cNvGrpSpPr/>
          <p:nvPr/>
        </p:nvGrpSpPr>
        <p:grpSpPr>
          <a:xfrm>
            <a:off x="0" y="0"/>
            <a:ext cx="12192000" cy="1583732"/>
            <a:chOff x="0" y="0"/>
            <a:chExt cx="12192000" cy="1289538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CFF31385-C6F0-63A1-8599-14BA045EBDFB}"/>
                </a:ext>
              </a:extLst>
            </p:cNvPr>
            <p:cNvSpPr/>
            <p:nvPr/>
          </p:nvSpPr>
          <p:spPr>
            <a:xfrm>
              <a:off x="0" y="0"/>
              <a:ext cx="12192000" cy="1289538"/>
            </a:xfrm>
            <a:prstGeom prst="rect">
              <a:avLst/>
            </a:prstGeom>
            <a:solidFill>
              <a:srgbClr val="FFC00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E924C005-4552-404D-BB25-D1A0BBD530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81138" y="59860"/>
              <a:ext cx="1813895" cy="1169818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746D183-C157-B29C-0006-093A0878D39B}"/>
              </a:ext>
            </a:extLst>
          </p:cNvPr>
          <p:cNvSpPr txBox="1"/>
          <p:nvPr/>
        </p:nvSpPr>
        <p:spPr>
          <a:xfrm>
            <a:off x="1333926" y="130145"/>
            <a:ext cx="806394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cs typeface="Times New Roman" panose="02020603050405020304" pitchFamily="18" charset="0"/>
              </a:rPr>
              <a:t>Методы используемые для решения задач 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8B9C4C-E2C5-5128-F476-DF4983970592}"/>
              </a:ext>
            </a:extLst>
          </p:cNvPr>
          <p:cNvSpPr txBox="1"/>
          <p:nvPr/>
        </p:nvSpPr>
        <p:spPr>
          <a:xfrm>
            <a:off x="0" y="1708993"/>
            <a:ext cx="12192000" cy="139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>
              <a:lnSpc>
                <a:spcPct val="150000"/>
              </a:lnSpc>
              <a:spcAft>
                <a:spcPts val="800"/>
              </a:spcAft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Описать исследованные типовые вычислительные методы, </a:t>
            </a:r>
            <a:r>
              <a:rPr lang="ru-RU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мат.модели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приемы которые используются в этих системах для решения функциональных задач.</a:t>
            </a:r>
          </a:p>
          <a:p>
            <a:pPr indent="450215">
              <a:lnSpc>
                <a:spcPct val="150000"/>
              </a:lnSpc>
              <a:spcAft>
                <a:spcPts val="800"/>
              </a:spcAft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Обосновать почему вы выбрали именно такой метод для использования в вашем решении.</a:t>
            </a:r>
          </a:p>
        </p:txBody>
      </p:sp>
    </p:spTree>
    <p:extLst>
      <p:ext uri="{BB962C8B-B14F-4D97-AF65-F5344CB8AC3E}">
        <p14:creationId xmlns:p14="http://schemas.microsoft.com/office/powerpoint/2010/main" val="553374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7F781D-409A-D57D-11D3-145AD009FE5C}"/>
              </a:ext>
            </a:extLst>
          </p:cNvPr>
          <p:cNvSpPr txBox="1"/>
          <p:nvPr/>
        </p:nvSpPr>
        <p:spPr>
          <a:xfrm>
            <a:off x="-540742" y="222286"/>
            <a:ext cx="107249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исследования</a:t>
            </a:r>
          </a:p>
        </p:txBody>
      </p:sp>
      <p:sp>
        <p:nvSpPr>
          <p:cNvPr id="15" name="Номер слайда 20">
            <a:extLst>
              <a:ext uri="{FF2B5EF4-FFF2-40B4-BE49-F238E27FC236}">
                <a16:creationId xmlns:a16="http://schemas.microsoft.com/office/drawing/2014/main" id="{90155156-79BF-FCFE-CE51-D40CE7FFE78B}"/>
              </a:ext>
            </a:extLst>
          </p:cNvPr>
          <p:cNvSpPr txBox="1">
            <a:spLocks/>
          </p:cNvSpPr>
          <p:nvPr/>
        </p:nvSpPr>
        <p:spPr>
          <a:xfrm>
            <a:off x="9536262" y="653016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27B114B-FCB6-4DCC-BE93-F9FFABFA546B}" type="slidenum">
              <a:rPr lang="ru-RU" sz="2000" b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ru-RU" sz="20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61A17FCB-DD4F-50C7-FE11-859E6910DBFC}"/>
              </a:ext>
            </a:extLst>
          </p:cNvPr>
          <p:cNvGrpSpPr/>
          <p:nvPr/>
        </p:nvGrpSpPr>
        <p:grpSpPr>
          <a:xfrm>
            <a:off x="0" y="0"/>
            <a:ext cx="12192000" cy="1289538"/>
            <a:chOff x="0" y="0"/>
            <a:chExt cx="12192000" cy="1289538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CFF31385-C6F0-63A1-8599-14BA045EBDFB}"/>
                </a:ext>
              </a:extLst>
            </p:cNvPr>
            <p:cNvSpPr/>
            <p:nvPr/>
          </p:nvSpPr>
          <p:spPr>
            <a:xfrm>
              <a:off x="0" y="0"/>
              <a:ext cx="12192000" cy="1289538"/>
            </a:xfrm>
            <a:prstGeom prst="rect">
              <a:avLst/>
            </a:prstGeom>
            <a:solidFill>
              <a:srgbClr val="FFC00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E924C005-4552-404D-BB25-D1A0BBD530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81138" y="59860"/>
              <a:ext cx="1813895" cy="1169818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746D183-C157-B29C-0006-093A0878D39B}"/>
              </a:ext>
            </a:extLst>
          </p:cNvPr>
          <p:cNvSpPr txBox="1"/>
          <p:nvPr/>
        </p:nvSpPr>
        <p:spPr>
          <a:xfrm>
            <a:off x="1325217" y="244862"/>
            <a:ext cx="88589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cs typeface="Times New Roman" panose="02020603050405020304" pitchFamily="18" charset="0"/>
              </a:rPr>
              <a:t>Выявленные требования к функциональности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A82EDE-F712-1FCD-9FCB-E56A773B1303}"/>
              </a:ext>
            </a:extLst>
          </p:cNvPr>
          <p:cNvSpPr txBox="1"/>
          <p:nvPr/>
        </p:nvSpPr>
        <p:spPr>
          <a:xfrm>
            <a:off x="0" y="1451964"/>
            <a:ext cx="12192000" cy="1494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>
              <a:lnSpc>
                <a:spcPct val="150000"/>
              </a:lnSpc>
              <a:spcAft>
                <a:spcPts val="800"/>
              </a:spcAft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Группы пользователей:</a:t>
            </a:r>
          </a:p>
          <a:p>
            <a:pPr marL="1069975" indent="-354013">
              <a:lnSpc>
                <a:spcPct val="150000"/>
              </a:lnSpc>
              <a:spcAft>
                <a:spcPts val="800"/>
              </a:spcAft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…</a:t>
            </a:r>
          </a:p>
          <a:p>
            <a:pPr marL="1069975" indent="-354013">
              <a:lnSpc>
                <a:spcPct val="150000"/>
              </a:lnSpc>
              <a:spcAft>
                <a:spcPts val="800"/>
              </a:spcAft>
              <a:buFontTx/>
              <a:buChar char="-"/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6C9506-2816-C950-B361-5C8DE5A266D3}"/>
              </a:ext>
            </a:extLst>
          </p:cNvPr>
          <p:cNvSpPr txBox="1"/>
          <p:nvPr/>
        </p:nvSpPr>
        <p:spPr>
          <a:xfrm>
            <a:off x="0" y="3243970"/>
            <a:ext cx="12192000" cy="1494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>
              <a:lnSpc>
                <a:spcPct val="150000"/>
              </a:lnSpc>
              <a:spcAft>
                <a:spcPts val="800"/>
              </a:spcAft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Функциональность:</a:t>
            </a:r>
          </a:p>
          <a:p>
            <a:pPr marL="1069975" indent="-354013">
              <a:lnSpc>
                <a:spcPct val="150000"/>
              </a:lnSpc>
              <a:spcAft>
                <a:spcPts val="800"/>
              </a:spcAft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…</a:t>
            </a:r>
          </a:p>
          <a:p>
            <a:pPr marL="1069975" indent="-354013">
              <a:lnSpc>
                <a:spcPct val="150000"/>
              </a:lnSpc>
              <a:spcAft>
                <a:spcPts val="800"/>
              </a:spcAft>
              <a:buFontTx/>
              <a:buChar char="-"/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...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CBCD70-880E-8965-846A-FC4B01B906C8}"/>
              </a:ext>
            </a:extLst>
          </p:cNvPr>
          <p:cNvSpPr txBox="1"/>
          <p:nvPr/>
        </p:nvSpPr>
        <p:spPr>
          <a:xfrm>
            <a:off x="87462" y="4888629"/>
            <a:ext cx="12192000" cy="45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>
              <a:lnSpc>
                <a:spcPct val="150000"/>
              </a:lnSpc>
              <a:spcAft>
                <a:spcPts val="800"/>
              </a:spcAft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Вместо текста можете представить то же самое через диаграмму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 Case</a:t>
            </a:r>
            <a:endParaRPr lang="ru-RU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9746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E6037-7E29-8E4A-911C-F4996D2DF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A27BFC9-AB60-710C-2D25-7947E7C3410A}"/>
              </a:ext>
            </a:extLst>
          </p:cNvPr>
          <p:cNvSpPr txBox="1"/>
          <p:nvPr/>
        </p:nvSpPr>
        <p:spPr>
          <a:xfrm>
            <a:off x="-540742" y="222286"/>
            <a:ext cx="107249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исследования</a:t>
            </a:r>
          </a:p>
        </p:txBody>
      </p:sp>
      <p:sp>
        <p:nvSpPr>
          <p:cNvPr id="15" name="Номер слайда 20">
            <a:extLst>
              <a:ext uri="{FF2B5EF4-FFF2-40B4-BE49-F238E27FC236}">
                <a16:creationId xmlns:a16="http://schemas.microsoft.com/office/drawing/2014/main" id="{4B2B2B2C-8946-11E0-C017-589C911EED97}"/>
              </a:ext>
            </a:extLst>
          </p:cNvPr>
          <p:cNvSpPr txBox="1">
            <a:spLocks/>
          </p:cNvSpPr>
          <p:nvPr/>
        </p:nvSpPr>
        <p:spPr>
          <a:xfrm>
            <a:off x="9536262" y="653016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27B114B-FCB6-4DCC-BE93-F9FFABFA546B}" type="slidenum">
              <a:rPr lang="ru-RU" sz="2000" b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ru-RU" sz="20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A7FB23EC-76DE-AEB0-C183-AB9BA0A262F7}"/>
              </a:ext>
            </a:extLst>
          </p:cNvPr>
          <p:cNvGrpSpPr/>
          <p:nvPr/>
        </p:nvGrpSpPr>
        <p:grpSpPr>
          <a:xfrm>
            <a:off x="0" y="0"/>
            <a:ext cx="12192000" cy="1289538"/>
            <a:chOff x="0" y="0"/>
            <a:chExt cx="12192000" cy="1289538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20391C68-471E-AC96-5656-630A952BD5CB}"/>
                </a:ext>
              </a:extLst>
            </p:cNvPr>
            <p:cNvSpPr/>
            <p:nvPr/>
          </p:nvSpPr>
          <p:spPr>
            <a:xfrm>
              <a:off x="0" y="0"/>
              <a:ext cx="12192000" cy="1289538"/>
            </a:xfrm>
            <a:prstGeom prst="rect">
              <a:avLst/>
            </a:prstGeom>
            <a:solidFill>
              <a:srgbClr val="FFC00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21EECE46-B317-3A63-029B-53BA0C076C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81138" y="59860"/>
              <a:ext cx="1813895" cy="1169818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028F228-FDB1-7B96-2903-60CF97B624CD}"/>
              </a:ext>
            </a:extLst>
          </p:cNvPr>
          <p:cNvSpPr txBox="1"/>
          <p:nvPr/>
        </p:nvSpPr>
        <p:spPr>
          <a:xfrm>
            <a:off x="1325217" y="244862"/>
            <a:ext cx="88589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cs typeface="Times New Roman" panose="02020603050405020304" pitchFamily="18" charset="0"/>
              </a:rPr>
              <a:t>Глава 1: Выводы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CAC0DE-44A8-2BD0-CD07-6F0B33D67CC5}"/>
              </a:ext>
            </a:extLst>
          </p:cNvPr>
          <p:cNvSpPr txBox="1"/>
          <p:nvPr/>
        </p:nvSpPr>
        <p:spPr>
          <a:xfrm>
            <a:off x="0" y="1451964"/>
            <a:ext cx="12192000" cy="2012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>
              <a:lnSpc>
                <a:spcPct val="150000"/>
              </a:lnSpc>
              <a:spcAft>
                <a:spcPts val="800"/>
              </a:spcAft>
            </a:pPr>
            <a:r>
              <a:rPr lang="ru-RU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Разработана методика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715962">
              <a:lnSpc>
                <a:spcPct val="150000"/>
              </a:lnSpc>
              <a:spcAft>
                <a:spcPts val="80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Шаг 1: </a:t>
            </a:r>
          </a:p>
          <a:p>
            <a:pPr marL="715962">
              <a:lnSpc>
                <a:spcPct val="150000"/>
              </a:lnSpc>
              <a:spcAft>
                <a:spcPts val="80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Инструмент/Метод/Модель: что вы планируете использовать для выполнения данного шага</a:t>
            </a:r>
          </a:p>
          <a:p>
            <a:pPr marL="715962">
              <a:lnSpc>
                <a:spcPct val="150000"/>
              </a:lnSpc>
              <a:spcAft>
                <a:spcPts val="80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Шаг 2: </a:t>
            </a:r>
            <a:endParaRPr lang="ru-RU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E871D8-BE87-9123-AA8B-76E0A537A248}"/>
              </a:ext>
            </a:extLst>
          </p:cNvPr>
          <p:cNvSpPr txBox="1"/>
          <p:nvPr/>
        </p:nvSpPr>
        <p:spPr>
          <a:xfrm>
            <a:off x="87462" y="3379358"/>
            <a:ext cx="12192000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>
              <a:lnSpc>
                <a:spcPct val="150000"/>
              </a:lnSpc>
              <a:spcAft>
                <a:spcPts val="800"/>
              </a:spcAft>
            </a:pPr>
            <a:r>
              <a:rPr lang="ru-RU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Методика представляет из себя набор шагов необходимый для того чтобы ваша задумка в целом работала (независимо от того как разработано ПО и какие компоненты оно включает), включая наполнение базы знаний (если это необходимо), обучение модели, разработку каких-то критериев, методов, и т.д., запуск модулей …., получение обратной связи, адаптация модели (если это модель с обратной связью), накопление статистики, запуск модуля предиктивной аналитики и т.д.</a:t>
            </a:r>
            <a:endParaRPr lang="ru-RU" i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5752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7F781D-409A-D57D-11D3-145AD009FE5C}"/>
              </a:ext>
            </a:extLst>
          </p:cNvPr>
          <p:cNvSpPr txBox="1"/>
          <p:nvPr/>
        </p:nvSpPr>
        <p:spPr>
          <a:xfrm>
            <a:off x="-540742" y="222286"/>
            <a:ext cx="107249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исследования</a:t>
            </a:r>
          </a:p>
        </p:txBody>
      </p:sp>
      <p:sp>
        <p:nvSpPr>
          <p:cNvPr id="15" name="Номер слайда 20">
            <a:extLst>
              <a:ext uri="{FF2B5EF4-FFF2-40B4-BE49-F238E27FC236}">
                <a16:creationId xmlns:a16="http://schemas.microsoft.com/office/drawing/2014/main" id="{90155156-79BF-FCFE-CE51-D40CE7FFE78B}"/>
              </a:ext>
            </a:extLst>
          </p:cNvPr>
          <p:cNvSpPr txBox="1">
            <a:spLocks/>
          </p:cNvSpPr>
          <p:nvPr/>
        </p:nvSpPr>
        <p:spPr>
          <a:xfrm>
            <a:off x="9536262" y="653016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27B114B-FCB6-4DCC-BE93-F9FFABFA546B}" type="slidenum">
              <a:rPr lang="ru-RU" sz="2000" b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</a:t>
            </a:fld>
            <a:endParaRPr lang="ru-RU" sz="20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61A17FCB-DD4F-50C7-FE11-859E6910DBFC}"/>
              </a:ext>
            </a:extLst>
          </p:cNvPr>
          <p:cNvGrpSpPr/>
          <p:nvPr/>
        </p:nvGrpSpPr>
        <p:grpSpPr>
          <a:xfrm>
            <a:off x="0" y="0"/>
            <a:ext cx="12192000" cy="1289538"/>
            <a:chOff x="0" y="0"/>
            <a:chExt cx="12192000" cy="1289538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CFF31385-C6F0-63A1-8599-14BA045EBDFB}"/>
                </a:ext>
              </a:extLst>
            </p:cNvPr>
            <p:cNvSpPr/>
            <p:nvPr/>
          </p:nvSpPr>
          <p:spPr>
            <a:xfrm>
              <a:off x="0" y="0"/>
              <a:ext cx="12192000" cy="1289538"/>
            </a:xfrm>
            <a:prstGeom prst="rect">
              <a:avLst/>
            </a:prstGeom>
            <a:solidFill>
              <a:srgbClr val="FFC00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E924C005-4552-404D-BB25-D1A0BBD530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81138" y="59860"/>
              <a:ext cx="1813895" cy="1169818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746D183-C157-B29C-0006-093A0878D39B}"/>
              </a:ext>
            </a:extLst>
          </p:cNvPr>
          <p:cNvSpPr txBox="1"/>
          <p:nvPr/>
        </p:nvSpPr>
        <p:spPr>
          <a:xfrm>
            <a:off x="1325217" y="244862"/>
            <a:ext cx="88589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cs typeface="Times New Roman" panose="02020603050405020304" pitchFamily="18" charset="0"/>
              </a:rPr>
              <a:t>Глава 1: Выводы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A82EDE-F712-1FCD-9FCB-E56A773B1303}"/>
              </a:ext>
            </a:extLst>
          </p:cNvPr>
          <p:cNvSpPr txBox="1"/>
          <p:nvPr/>
        </p:nvSpPr>
        <p:spPr>
          <a:xfrm>
            <a:off x="0" y="1451964"/>
            <a:ext cx="12192000" cy="3048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>
              <a:lnSpc>
                <a:spcPct val="150000"/>
              </a:lnSpc>
              <a:spcAft>
                <a:spcPts val="800"/>
              </a:spcAft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Выводы к 1-й главе:</a:t>
            </a:r>
          </a:p>
          <a:p>
            <a:pPr marL="1069975" indent="-354013">
              <a:lnSpc>
                <a:spcPct val="150000"/>
              </a:lnSpc>
              <a:spcAft>
                <a:spcPts val="800"/>
              </a:spcAft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Актуальность исследования подтверждена.</a:t>
            </a:r>
          </a:p>
          <a:p>
            <a:pPr marL="1069975" indent="-354013">
              <a:lnSpc>
                <a:spcPct val="150000"/>
              </a:lnSpc>
              <a:spcAft>
                <a:spcPts val="800"/>
              </a:spcAft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Выявлена проблематика: </a:t>
            </a:r>
            <a:r>
              <a:rPr lang="ru-RU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(кратко сформулировать)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….</a:t>
            </a:r>
          </a:p>
          <a:p>
            <a:pPr marL="1069975" indent="-354013">
              <a:lnSpc>
                <a:spcPct val="150000"/>
              </a:lnSpc>
              <a:spcAft>
                <a:spcPts val="800"/>
              </a:spcAft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Проанализированы типовые инструменты и методы: </a:t>
            </a:r>
            <a:r>
              <a:rPr lang="ru-RU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(кратко сформулировать выводы)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…</a:t>
            </a:r>
          </a:p>
          <a:p>
            <a:pPr marL="1069975" indent="-354013">
              <a:lnSpc>
                <a:spcPct val="150000"/>
              </a:lnSpc>
              <a:spcAft>
                <a:spcPts val="800"/>
              </a:spcAft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Создана </a:t>
            </a:r>
            <a:r>
              <a:rPr lang="e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 Case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диаграмма, описывающая функциональные возможности системы. </a:t>
            </a:r>
          </a:p>
          <a:p>
            <a:pPr marL="1069975" indent="-354013">
              <a:lnSpc>
                <a:spcPct val="150000"/>
              </a:lnSpc>
              <a:spcAft>
                <a:spcPts val="800"/>
              </a:spcAft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Разработана методология решения поставленных проблем.</a:t>
            </a:r>
          </a:p>
        </p:txBody>
      </p:sp>
    </p:spTree>
    <p:extLst>
      <p:ext uri="{BB962C8B-B14F-4D97-AF65-F5344CB8AC3E}">
        <p14:creationId xmlns:p14="http://schemas.microsoft.com/office/powerpoint/2010/main" val="32831150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7F781D-409A-D57D-11D3-145AD009FE5C}"/>
              </a:ext>
            </a:extLst>
          </p:cNvPr>
          <p:cNvSpPr txBox="1"/>
          <p:nvPr/>
        </p:nvSpPr>
        <p:spPr>
          <a:xfrm>
            <a:off x="-540742" y="222286"/>
            <a:ext cx="107249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исследования</a:t>
            </a:r>
          </a:p>
        </p:txBody>
      </p:sp>
      <p:sp>
        <p:nvSpPr>
          <p:cNvPr id="15" name="Номер слайда 20">
            <a:extLst>
              <a:ext uri="{FF2B5EF4-FFF2-40B4-BE49-F238E27FC236}">
                <a16:creationId xmlns:a16="http://schemas.microsoft.com/office/drawing/2014/main" id="{90155156-79BF-FCFE-CE51-D40CE7FFE78B}"/>
              </a:ext>
            </a:extLst>
          </p:cNvPr>
          <p:cNvSpPr txBox="1">
            <a:spLocks/>
          </p:cNvSpPr>
          <p:nvPr/>
        </p:nvSpPr>
        <p:spPr>
          <a:xfrm>
            <a:off x="9536262" y="653016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27B114B-FCB6-4DCC-BE93-F9FFABFA546B}" type="slidenum">
              <a:rPr lang="ru-RU" sz="2000" b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endParaRPr lang="ru-RU" sz="20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61A17FCB-DD4F-50C7-FE11-859E6910DBFC}"/>
              </a:ext>
            </a:extLst>
          </p:cNvPr>
          <p:cNvGrpSpPr/>
          <p:nvPr/>
        </p:nvGrpSpPr>
        <p:grpSpPr>
          <a:xfrm>
            <a:off x="0" y="0"/>
            <a:ext cx="12192000" cy="1289538"/>
            <a:chOff x="0" y="0"/>
            <a:chExt cx="12192000" cy="1289538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CFF31385-C6F0-63A1-8599-14BA045EBDFB}"/>
                </a:ext>
              </a:extLst>
            </p:cNvPr>
            <p:cNvSpPr/>
            <p:nvPr/>
          </p:nvSpPr>
          <p:spPr>
            <a:xfrm>
              <a:off x="0" y="0"/>
              <a:ext cx="12192000" cy="1289538"/>
            </a:xfrm>
            <a:prstGeom prst="rect">
              <a:avLst/>
            </a:prstGeom>
            <a:solidFill>
              <a:srgbClr val="FFC00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E924C005-4552-404D-BB25-D1A0BBD530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81138" y="59860"/>
              <a:ext cx="1813895" cy="1169818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746D183-C157-B29C-0006-093A0878D39B}"/>
              </a:ext>
            </a:extLst>
          </p:cNvPr>
          <p:cNvSpPr txBox="1"/>
          <p:nvPr/>
        </p:nvSpPr>
        <p:spPr>
          <a:xfrm>
            <a:off x="1325217" y="244862"/>
            <a:ext cx="80639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cs typeface="Times New Roman" panose="02020603050405020304" pitchFamily="18" charset="0"/>
              </a:rPr>
              <a:t>Модель </a:t>
            </a:r>
            <a:r>
              <a:rPr lang="en-US" sz="2800" dirty="0">
                <a:cs typeface="Times New Roman" panose="02020603050405020304" pitchFamily="18" charset="0"/>
              </a:rPr>
              <a:t>AS-IS</a:t>
            </a:r>
            <a:endParaRPr lang="ru-RU" sz="2800" dirty="0"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39E83-6DCD-F43D-10E3-D8FC49AB2EAA}"/>
              </a:ext>
            </a:extLst>
          </p:cNvPr>
          <p:cNvSpPr txBox="1"/>
          <p:nvPr/>
        </p:nvSpPr>
        <p:spPr>
          <a:xfrm>
            <a:off x="0" y="1708993"/>
            <a:ext cx="12192000" cy="1289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>
              <a:lnSpc>
                <a:spcPct val="150000"/>
              </a:lnSpc>
              <a:spcAft>
                <a:spcPts val="800"/>
              </a:spcAft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Описать модель существующей системы (или методики работы если системы нет) в любой близкой вам нотации. В случае использования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IDEF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 забываем про рамку. Учтите что здесь вы скорее описываете логику а не компонентный состав системы.</a:t>
            </a:r>
            <a:endParaRPr lang="ru-RU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3717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852B2-5CC4-7A07-08CC-0CE853725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AF0298-1039-1965-71E8-D18C5F1CCB80}"/>
              </a:ext>
            </a:extLst>
          </p:cNvPr>
          <p:cNvSpPr txBox="1"/>
          <p:nvPr/>
        </p:nvSpPr>
        <p:spPr>
          <a:xfrm>
            <a:off x="-540742" y="222286"/>
            <a:ext cx="107249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исследования</a:t>
            </a:r>
          </a:p>
        </p:txBody>
      </p:sp>
      <p:sp>
        <p:nvSpPr>
          <p:cNvPr id="15" name="Номер слайда 20">
            <a:extLst>
              <a:ext uri="{FF2B5EF4-FFF2-40B4-BE49-F238E27FC236}">
                <a16:creationId xmlns:a16="http://schemas.microsoft.com/office/drawing/2014/main" id="{DF3A036D-34C1-DD5B-5C2E-6455420817D0}"/>
              </a:ext>
            </a:extLst>
          </p:cNvPr>
          <p:cNvSpPr txBox="1">
            <a:spLocks/>
          </p:cNvSpPr>
          <p:nvPr/>
        </p:nvSpPr>
        <p:spPr>
          <a:xfrm>
            <a:off x="9536262" y="653016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27B114B-FCB6-4DCC-BE93-F9FFABFA546B}" type="slidenum">
              <a:rPr lang="ru-RU" sz="2000" b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14</a:t>
            </a:fld>
            <a:endParaRPr lang="ru-RU" sz="20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29C941B1-1B3D-BD3E-20DA-7A00C898823A}"/>
              </a:ext>
            </a:extLst>
          </p:cNvPr>
          <p:cNvGrpSpPr/>
          <p:nvPr/>
        </p:nvGrpSpPr>
        <p:grpSpPr>
          <a:xfrm>
            <a:off x="0" y="0"/>
            <a:ext cx="12192000" cy="1289538"/>
            <a:chOff x="0" y="0"/>
            <a:chExt cx="12192000" cy="1289538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08BD3F38-FE45-8CAE-1D35-3B441D484F5E}"/>
                </a:ext>
              </a:extLst>
            </p:cNvPr>
            <p:cNvSpPr/>
            <p:nvPr/>
          </p:nvSpPr>
          <p:spPr>
            <a:xfrm>
              <a:off x="0" y="0"/>
              <a:ext cx="12192000" cy="1289538"/>
            </a:xfrm>
            <a:prstGeom prst="rect">
              <a:avLst/>
            </a:prstGeom>
            <a:solidFill>
              <a:srgbClr val="FFC00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579E85AB-C486-4C49-CD33-DE412CD945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81138" y="59860"/>
              <a:ext cx="1813895" cy="1169818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5820BD67-AD09-68EB-9990-17CA4418F81C}"/>
              </a:ext>
            </a:extLst>
          </p:cNvPr>
          <p:cNvSpPr txBox="1"/>
          <p:nvPr/>
        </p:nvSpPr>
        <p:spPr>
          <a:xfrm>
            <a:off x="1325217" y="244862"/>
            <a:ext cx="80639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cs typeface="Times New Roman" panose="02020603050405020304" pitchFamily="18" charset="0"/>
              </a:rPr>
              <a:t>Модель </a:t>
            </a:r>
            <a:r>
              <a:rPr lang="en-US" sz="2800" dirty="0">
                <a:cs typeface="Times New Roman" panose="02020603050405020304" pitchFamily="18" charset="0"/>
              </a:rPr>
              <a:t>TO-BE</a:t>
            </a:r>
            <a:endParaRPr lang="ru-RU" sz="2800" dirty="0"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5774DD-9AF2-E7D1-1C6A-E7C51EEB67F6}"/>
              </a:ext>
            </a:extLst>
          </p:cNvPr>
          <p:cNvSpPr txBox="1"/>
          <p:nvPr/>
        </p:nvSpPr>
        <p:spPr>
          <a:xfrm>
            <a:off x="0" y="1708993"/>
            <a:ext cx="12192000" cy="180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>
              <a:lnSpc>
                <a:spcPct val="150000"/>
              </a:lnSpc>
              <a:spcAft>
                <a:spcPts val="800"/>
              </a:spcAft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Описать модель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будущей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системы в любой близкой вам нотации. В случае использования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IDEF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 забываем про рамку. Цель подчеркнуть в чем суть изменений которые вы вносите, какие этапы автоматизируете (если ранее они выполнялись вручную) или оптимизируете (этап остался прежним но начинка другая).</a:t>
            </a:r>
          </a:p>
          <a:p>
            <a:pPr indent="450215">
              <a:lnSpc>
                <a:spcPct val="150000"/>
              </a:lnSpc>
              <a:spcAft>
                <a:spcPts val="800"/>
              </a:spcAft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Учтите что здесь вы скорее описываете логику а не компонентный состав системы</a:t>
            </a:r>
          </a:p>
        </p:txBody>
      </p:sp>
    </p:spTree>
    <p:extLst>
      <p:ext uri="{BB962C8B-B14F-4D97-AF65-F5344CB8AC3E}">
        <p14:creationId xmlns:p14="http://schemas.microsoft.com/office/powerpoint/2010/main" val="204097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7F781D-409A-D57D-11D3-145AD009FE5C}"/>
              </a:ext>
            </a:extLst>
          </p:cNvPr>
          <p:cNvSpPr txBox="1"/>
          <p:nvPr/>
        </p:nvSpPr>
        <p:spPr>
          <a:xfrm>
            <a:off x="-540742" y="222286"/>
            <a:ext cx="107249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исследования</a:t>
            </a:r>
          </a:p>
        </p:txBody>
      </p:sp>
      <p:sp>
        <p:nvSpPr>
          <p:cNvPr id="15" name="Номер слайда 20">
            <a:extLst>
              <a:ext uri="{FF2B5EF4-FFF2-40B4-BE49-F238E27FC236}">
                <a16:creationId xmlns:a16="http://schemas.microsoft.com/office/drawing/2014/main" id="{90155156-79BF-FCFE-CE51-D40CE7FFE78B}"/>
              </a:ext>
            </a:extLst>
          </p:cNvPr>
          <p:cNvSpPr txBox="1">
            <a:spLocks/>
          </p:cNvSpPr>
          <p:nvPr/>
        </p:nvSpPr>
        <p:spPr>
          <a:xfrm>
            <a:off x="9536262" y="653016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27B114B-FCB6-4DCC-BE93-F9FFABFA546B}" type="slidenum">
              <a:rPr lang="ru-RU" sz="2000" b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15</a:t>
            </a:fld>
            <a:endParaRPr lang="ru-RU" sz="20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61A17FCB-DD4F-50C7-FE11-859E6910DBFC}"/>
              </a:ext>
            </a:extLst>
          </p:cNvPr>
          <p:cNvGrpSpPr/>
          <p:nvPr/>
        </p:nvGrpSpPr>
        <p:grpSpPr>
          <a:xfrm>
            <a:off x="0" y="0"/>
            <a:ext cx="12192000" cy="1289538"/>
            <a:chOff x="0" y="0"/>
            <a:chExt cx="12192000" cy="1289538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CFF31385-C6F0-63A1-8599-14BA045EBDFB}"/>
                </a:ext>
              </a:extLst>
            </p:cNvPr>
            <p:cNvSpPr/>
            <p:nvPr/>
          </p:nvSpPr>
          <p:spPr>
            <a:xfrm>
              <a:off x="0" y="0"/>
              <a:ext cx="12192000" cy="1289538"/>
            </a:xfrm>
            <a:prstGeom prst="rect">
              <a:avLst/>
            </a:prstGeom>
            <a:solidFill>
              <a:srgbClr val="FFC00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E924C005-4552-404D-BB25-D1A0BBD530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81138" y="59860"/>
              <a:ext cx="1813895" cy="1169818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746D183-C157-B29C-0006-093A0878D39B}"/>
              </a:ext>
            </a:extLst>
          </p:cNvPr>
          <p:cNvSpPr txBox="1"/>
          <p:nvPr/>
        </p:nvSpPr>
        <p:spPr>
          <a:xfrm>
            <a:off x="1325217" y="244862"/>
            <a:ext cx="80639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cs typeface="Times New Roman" panose="02020603050405020304" pitchFamily="18" charset="0"/>
              </a:rPr>
              <a:t>Модель компонентов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39E83-6DCD-F43D-10E3-D8FC49AB2EAA}"/>
              </a:ext>
            </a:extLst>
          </p:cNvPr>
          <p:cNvSpPr txBox="1"/>
          <p:nvPr/>
        </p:nvSpPr>
        <p:spPr>
          <a:xfrm>
            <a:off x="0" y="1708993"/>
            <a:ext cx="12192000" cy="1909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>
              <a:lnSpc>
                <a:spcPct val="150000"/>
              </a:lnSpc>
              <a:spcAft>
                <a:spcPts val="800"/>
              </a:spcAft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виде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DFD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или диаграммы компонентов. </a:t>
            </a:r>
          </a:p>
          <a:p>
            <a:pPr indent="450215">
              <a:lnSpc>
                <a:spcPct val="150000"/>
              </a:lnSpc>
              <a:spcAft>
                <a:spcPts val="800"/>
              </a:spcAft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Цель указать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 какие модули, компоненты, подсистемы может быть разбита ваша система. Какие внешние системы могут потреблять информацию из вашей системы или передавать информацию в вашу систему.</a:t>
            </a:r>
          </a:p>
          <a:p>
            <a:pPr indent="450215">
              <a:lnSpc>
                <a:spcPct val="150000"/>
              </a:lnSpc>
              <a:spcAft>
                <a:spcPts val="800"/>
              </a:spcAft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Обязательно укажите в заголовке слайда нотацию, которую вы использовали</a:t>
            </a:r>
          </a:p>
        </p:txBody>
      </p:sp>
    </p:spTree>
    <p:extLst>
      <p:ext uri="{BB962C8B-B14F-4D97-AF65-F5344CB8AC3E}">
        <p14:creationId xmlns:p14="http://schemas.microsoft.com/office/powerpoint/2010/main" val="25665236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7F781D-409A-D57D-11D3-145AD009FE5C}"/>
              </a:ext>
            </a:extLst>
          </p:cNvPr>
          <p:cNvSpPr txBox="1"/>
          <p:nvPr/>
        </p:nvSpPr>
        <p:spPr>
          <a:xfrm>
            <a:off x="-540742" y="222286"/>
            <a:ext cx="107249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исследования</a:t>
            </a:r>
          </a:p>
        </p:txBody>
      </p:sp>
      <p:sp>
        <p:nvSpPr>
          <p:cNvPr id="15" name="Номер слайда 20">
            <a:extLst>
              <a:ext uri="{FF2B5EF4-FFF2-40B4-BE49-F238E27FC236}">
                <a16:creationId xmlns:a16="http://schemas.microsoft.com/office/drawing/2014/main" id="{90155156-79BF-FCFE-CE51-D40CE7FFE78B}"/>
              </a:ext>
            </a:extLst>
          </p:cNvPr>
          <p:cNvSpPr txBox="1">
            <a:spLocks/>
          </p:cNvSpPr>
          <p:nvPr/>
        </p:nvSpPr>
        <p:spPr>
          <a:xfrm>
            <a:off x="9536262" y="653016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27B114B-FCB6-4DCC-BE93-F9FFABFA546B}" type="slidenum">
              <a:rPr lang="ru-RU" sz="2000" b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16</a:t>
            </a:fld>
            <a:endParaRPr lang="ru-RU" sz="20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61A17FCB-DD4F-50C7-FE11-859E6910DBFC}"/>
              </a:ext>
            </a:extLst>
          </p:cNvPr>
          <p:cNvGrpSpPr/>
          <p:nvPr/>
        </p:nvGrpSpPr>
        <p:grpSpPr>
          <a:xfrm>
            <a:off x="0" y="0"/>
            <a:ext cx="12192000" cy="1289538"/>
            <a:chOff x="0" y="0"/>
            <a:chExt cx="12192000" cy="1289538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CFF31385-C6F0-63A1-8599-14BA045EBDFB}"/>
                </a:ext>
              </a:extLst>
            </p:cNvPr>
            <p:cNvSpPr/>
            <p:nvPr/>
          </p:nvSpPr>
          <p:spPr>
            <a:xfrm>
              <a:off x="0" y="0"/>
              <a:ext cx="12192000" cy="1289538"/>
            </a:xfrm>
            <a:prstGeom prst="rect">
              <a:avLst/>
            </a:prstGeom>
            <a:solidFill>
              <a:srgbClr val="FFC00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E924C005-4552-404D-BB25-D1A0BBD530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81138" y="59860"/>
              <a:ext cx="1813895" cy="1169818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746D183-C157-B29C-0006-093A0878D39B}"/>
              </a:ext>
            </a:extLst>
          </p:cNvPr>
          <p:cNvSpPr txBox="1"/>
          <p:nvPr/>
        </p:nvSpPr>
        <p:spPr>
          <a:xfrm>
            <a:off x="1325217" y="244862"/>
            <a:ext cx="80639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cs typeface="Times New Roman" panose="02020603050405020304" pitchFamily="18" charset="0"/>
              </a:rPr>
              <a:t>Описание </a:t>
            </a:r>
            <a:r>
              <a:rPr lang="ru-RU" sz="3200" dirty="0">
                <a:cs typeface="Times New Roman" panose="02020603050405020304" pitchFamily="18" charset="0"/>
              </a:rPr>
              <a:t>процессов</a:t>
            </a:r>
            <a:r>
              <a:rPr lang="ru-RU" sz="3600" dirty="0">
                <a:cs typeface="Times New Roman" panose="02020603050405020304" pitchFamily="18" charset="0"/>
              </a:rPr>
              <a:t> в нотации </a:t>
            </a:r>
            <a:r>
              <a:rPr lang="en-US" sz="3600" dirty="0">
                <a:cs typeface="Times New Roman" panose="02020603050405020304" pitchFamily="18" charset="0"/>
              </a:rPr>
              <a:t>BPMN</a:t>
            </a:r>
            <a:endParaRPr lang="ru-RU" sz="3600" dirty="0"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39E83-6DCD-F43D-10E3-D8FC49AB2EAA}"/>
              </a:ext>
            </a:extLst>
          </p:cNvPr>
          <p:cNvSpPr txBox="1"/>
          <p:nvPr/>
        </p:nvSpPr>
        <p:spPr>
          <a:xfrm>
            <a:off x="0" y="1708993"/>
            <a:ext cx="12192000" cy="139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>
              <a:lnSpc>
                <a:spcPct val="150000"/>
              </a:lnSpc>
              <a:spcAft>
                <a:spcPts val="800"/>
              </a:spcAft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Вместо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BPMN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можете использовать диаграмму деятельности или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event driven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диаграмму или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 Story Map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или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sequence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диаграмму. </a:t>
            </a:r>
          </a:p>
          <a:p>
            <a:pPr indent="450215">
              <a:lnSpc>
                <a:spcPct val="150000"/>
              </a:lnSpc>
              <a:spcAft>
                <a:spcPts val="800"/>
              </a:spcAft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Цель указать последовательность операций, </a:t>
            </a:r>
            <a:r>
              <a:rPr lang="ru-RU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акторов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описать последовательность обработки данных.</a:t>
            </a:r>
            <a:endParaRPr lang="ru-RU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3504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7F781D-409A-D57D-11D3-145AD009FE5C}"/>
              </a:ext>
            </a:extLst>
          </p:cNvPr>
          <p:cNvSpPr txBox="1"/>
          <p:nvPr/>
        </p:nvSpPr>
        <p:spPr>
          <a:xfrm>
            <a:off x="-540742" y="222286"/>
            <a:ext cx="107249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исследования</a:t>
            </a:r>
          </a:p>
        </p:txBody>
      </p:sp>
      <p:sp>
        <p:nvSpPr>
          <p:cNvPr id="15" name="Номер слайда 20">
            <a:extLst>
              <a:ext uri="{FF2B5EF4-FFF2-40B4-BE49-F238E27FC236}">
                <a16:creationId xmlns:a16="http://schemas.microsoft.com/office/drawing/2014/main" id="{90155156-79BF-FCFE-CE51-D40CE7FFE78B}"/>
              </a:ext>
            </a:extLst>
          </p:cNvPr>
          <p:cNvSpPr txBox="1">
            <a:spLocks/>
          </p:cNvSpPr>
          <p:nvPr/>
        </p:nvSpPr>
        <p:spPr>
          <a:xfrm>
            <a:off x="9536262" y="653016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27B114B-FCB6-4DCC-BE93-F9FFABFA546B}" type="slidenum">
              <a:rPr lang="ru-RU" sz="2000" b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17</a:t>
            </a:fld>
            <a:endParaRPr lang="ru-RU" sz="20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61A17FCB-DD4F-50C7-FE11-859E6910DBFC}"/>
              </a:ext>
            </a:extLst>
          </p:cNvPr>
          <p:cNvGrpSpPr/>
          <p:nvPr/>
        </p:nvGrpSpPr>
        <p:grpSpPr>
          <a:xfrm>
            <a:off x="0" y="0"/>
            <a:ext cx="12192000" cy="1289538"/>
            <a:chOff x="0" y="0"/>
            <a:chExt cx="12192000" cy="1289538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CFF31385-C6F0-63A1-8599-14BA045EBDFB}"/>
                </a:ext>
              </a:extLst>
            </p:cNvPr>
            <p:cNvSpPr/>
            <p:nvPr/>
          </p:nvSpPr>
          <p:spPr>
            <a:xfrm>
              <a:off x="0" y="0"/>
              <a:ext cx="12192000" cy="1289538"/>
            </a:xfrm>
            <a:prstGeom prst="rect">
              <a:avLst/>
            </a:prstGeom>
            <a:solidFill>
              <a:srgbClr val="FFC00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E924C005-4552-404D-BB25-D1A0BBD530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81138" y="59860"/>
              <a:ext cx="1813895" cy="1169818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746D183-C157-B29C-0006-093A0878D39B}"/>
              </a:ext>
            </a:extLst>
          </p:cNvPr>
          <p:cNvSpPr txBox="1"/>
          <p:nvPr/>
        </p:nvSpPr>
        <p:spPr>
          <a:xfrm>
            <a:off x="1325217" y="244862"/>
            <a:ext cx="80639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cs typeface="Times New Roman" panose="02020603050405020304" pitchFamily="18" charset="0"/>
              </a:rPr>
              <a:t>Проектирование структуры данных (нотация </a:t>
            </a:r>
            <a:r>
              <a:rPr lang="en-US" sz="3200" dirty="0">
                <a:cs typeface="Times New Roman" panose="02020603050405020304" pitchFamily="18" charset="0"/>
              </a:rPr>
              <a:t>ERD)</a:t>
            </a:r>
            <a:endParaRPr lang="ru-RU" sz="3200" dirty="0"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39E83-6DCD-F43D-10E3-D8FC49AB2EAA}"/>
              </a:ext>
            </a:extLst>
          </p:cNvPr>
          <p:cNvSpPr txBox="1"/>
          <p:nvPr/>
        </p:nvSpPr>
        <p:spPr>
          <a:xfrm>
            <a:off x="0" y="1708993"/>
            <a:ext cx="12192000" cy="458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>
              <a:lnSpc>
                <a:spcPct val="150000"/>
              </a:lnSpc>
              <a:spcAft>
                <a:spcPts val="800"/>
              </a:spcAft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Представление структуры данных в формате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ERD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476123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7F781D-409A-D57D-11D3-145AD009FE5C}"/>
              </a:ext>
            </a:extLst>
          </p:cNvPr>
          <p:cNvSpPr txBox="1"/>
          <p:nvPr/>
        </p:nvSpPr>
        <p:spPr>
          <a:xfrm>
            <a:off x="-540742" y="222286"/>
            <a:ext cx="107249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исследования</a:t>
            </a:r>
          </a:p>
        </p:txBody>
      </p:sp>
      <p:sp>
        <p:nvSpPr>
          <p:cNvPr id="15" name="Номер слайда 20">
            <a:extLst>
              <a:ext uri="{FF2B5EF4-FFF2-40B4-BE49-F238E27FC236}">
                <a16:creationId xmlns:a16="http://schemas.microsoft.com/office/drawing/2014/main" id="{90155156-79BF-FCFE-CE51-D40CE7FFE78B}"/>
              </a:ext>
            </a:extLst>
          </p:cNvPr>
          <p:cNvSpPr txBox="1">
            <a:spLocks/>
          </p:cNvSpPr>
          <p:nvPr/>
        </p:nvSpPr>
        <p:spPr>
          <a:xfrm>
            <a:off x="9536262" y="653016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27B114B-FCB6-4DCC-BE93-F9FFABFA546B}" type="slidenum">
              <a:rPr lang="ru-RU" sz="2000" b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18</a:t>
            </a:fld>
            <a:endParaRPr lang="ru-RU" sz="20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61A17FCB-DD4F-50C7-FE11-859E6910DBFC}"/>
              </a:ext>
            </a:extLst>
          </p:cNvPr>
          <p:cNvGrpSpPr/>
          <p:nvPr/>
        </p:nvGrpSpPr>
        <p:grpSpPr>
          <a:xfrm>
            <a:off x="0" y="0"/>
            <a:ext cx="12192000" cy="1289538"/>
            <a:chOff x="0" y="0"/>
            <a:chExt cx="12192000" cy="1289538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CFF31385-C6F0-63A1-8599-14BA045EBDFB}"/>
                </a:ext>
              </a:extLst>
            </p:cNvPr>
            <p:cNvSpPr/>
            <p:nvPr/>
          </p:nvSpPr>
          <p:spPr>
            <a:xfrm>
              <a:off x="0" y="0"/>
              <a:ext cx="12192000" cy="1289538"/>
            </a:xfrm>
            <a:prstGeom prst="rect">
              <a:avLst/>
            </a:prstGeom>
            <a:solidFill>
              <a:srgbClr val="FFC00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E924C005-4552-404D-BB25-D1A0BBD530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81138" y="59860"/>
              <a:ext cx="1813895" cy="1169818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746D183-C157-B29C-0006-093A0878D39B}"/>
              </a:ext>
            </a:extLst>
          </p:cNvPr>
          <p:cNvSpPr txBox="1"/>
          <p:nvPr/>
        </p:nvSpPr>
        <p:spPr>
          <a:xfrm>
            <a:off x="1325217" y="244862"/>
            <a:ext cx="88589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cs typeface="Times New Roman" panose="02020603050405020304" pitchFamily="18" charset="0"/>
              </a:rPr>
              <a:t>Глава 2: Выводы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C68662-8772-4BBB-85D9-FABDDBCDE843}"/>
              </a:ext>
            </a:extLst>
          </p:cNvPr>
          <p:cNvSpPr txBox="1"/>
          <p:nvPr/>
        </p:nvSpPr>
        <p:spPr>
          <a:xfrm>
            <a:off x="-76289" y="1451964"/>
            <a:ext cx="11998066" cy="4300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448056" algn="l" rtl="0" eaLnBrk="1" latinLnBrk="0" hangingPunct="1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18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Выводы к 2-й главе:</a:t>
            </a:r>
            <a:endParaRPr lang="ru-RU" dirty="0">
              <a:effectLst/>
            </a:endParaRPr>
          </a:p>
          <a:p>
            <a:pPr marL="1069848" indent="-356616" algn="l" rtl="0" eaLnBrk="1" latinLnBrk="0" hangingPunct="1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18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Построена модель </a:t>
            </a:r>
            <a:r>
              <a:rPr lang="en-US" sz="18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 IS </a:t>
            </a:r>
            <a:r>
              <a:rPr lang="ru-RU" sz="18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нотации </a:t>
            </a:r>
            <a:r>
              <a:rPr lang="en-US" sz="18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IDEF0:</a:t>
            </a:r>
            <a:r>
              <a:rPr lang="ru-RU" sz="18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проанализированы входящие и выходящие потоки, ресурсы и механизмы и ограничения, которые должны быть заложены в систему;</a:t>
            </a:r>
            <a:endParaRPr lang="ru-RU" dirty="0">
              <a:effectLst/>
            </a:endParaRPr>
          </a:p>
          <a:p>
            <a:pPr marL="1069848" indent="-356616" algn="l" rtl="0" eaLnBrk="1" latinLnBrk="0" hangingPunct="1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18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Разработана модель информационных потоков </a:t>
            </a:r>
            <a:r>
              <a:rPr lang="en-US" sz="18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BE: </a:t>
            </a:r>
            <a:r>
              <a:rPr lang="ru-RU" sz="18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включены …, оптимизированы алгоритмы …, предложены модели ….;</a:t>
            </a:r>
            <a:endParaRPr lang="ru-RU" dirty="0">
              <a:effectLst/>
            </a:endParaRPr>
          </a:p>
          <a:p>
            <a:pPr marL="1069848" indent="-356616" algn="l" rtl="0" eaLnBrk="1" latinLnBrk="0" hangingPunct="1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18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Создана </a:t>
            </a:r>
            <a:r>
              <a:rPr lang="ru-RU" sz="1800" kern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верхнеуровневая</a:t>
            </a:r>
            <a:r>
              <a:rPr lang="ru-RU" sz="18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архитектура системы в </a:t>
            </a:r>
            <a:r>
              <a:rPr lang="en-US" sz="18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DFD</a:t>
            </a:r>
            <a:r>
              <a:rPr lang="ru-RU" sz="18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</a:t>
            </a:r>
            <a:r>
              <a:rPr lang="ru-RU" sz="18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нотации (…)</a:t>
            </a:r>
            <a:r>
              <a:rPr lang="en-US" sz="18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dirty="0">
              <a:effectLst/>
            </a:endParaRPr>
          </a:p>
          <a:p>
            <a:pPr marL="1069848" indent="-356616" algn="l" rtl="0" eaLnBrk="1" latinLnBrk="0" hangingPunct="1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18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Описан процесс взаимодействия пользователя с системой в нотации </a:t>
            </a:r>
            <a:r>
              <a:rPr lang="en-US" sz="18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BPMN;</a:t>
            </a:r>
            <a:endParaRPr lang="ru-RU" dirty="0">
              <a:effectLst/>
            </a:endParaRPr>
          </a:p>
          <a:p>
            <a:pPr marL="1069848" indent="-356616" algn="l" rtl="0" eaLnBrk="1" latinLnBrk="0" hangingPunct="1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18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Выполнено проектирование структуры базы данных (</a:t>
            </a:r>
            <a:r>
              <a:rPr lang="en-US" sz="18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ERD): </a:t>
            </a:r>
            <a:r>
              <a:rPr lang="ru-RU" sz="18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сущности пользователя, вопросов, грейдов и рекомендаций.</a:t>
            </a:r>
            <a:endParaRPr lang="ru-RU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599707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4EC81-F419-5D83-C375-E4774AF43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7EA7444-265C-EA1C-0268-1C664AF96F38}"/>
              </a:ext>
            </a:extLst>
          </p:cNvPr>
          <p:cNvSpPr txBox="1"/>
          <p:nvPr/>
        </p:nvSpPr>
        <p:spPr>
          <a:xfrm>
            <a:off x="-540742" y="222286"/>
            <a:ext cx="107249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исследования</a:t>
            </a:r>
          </a:p>
        </p:txBody>
      </p:sp>
      <p:sp>
        <p:nvSpPr>
          <p:cNvPr id="15" name="Номер слайда 20">
            <a:extLst>
              <a:ext uri="{FF2B5EF4-FFF2-40B4-BE49-F238E27FC236}">
                <a16:creationId xmlns:a16="http://schemas.microsoft.com/office/drawing/2014/main" id="{0227EBCF-4339-232F-273F-46B740AF75A3}"/>
              </a:ext>
            </a:extLst>
          </p:cNvPr>
          <p:cNvSpPr txBox="1">
            <a:spLocks/>
          </p:cNvSpPr>
          <p:nvPr/>
        </p:nvSpPr>
        <p:spPr>
          <a:xfrm>
            <a:off x="9536262" y="653016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27B114B-FCB6-4DCC-BE93-F9FFABFA546B}" type="slidenum">
              <a:rPr lang="ru-RU" sz="2000" b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19</a:t>
            </a:fld>
            <a:endParaRPr lang="ru-RU" sz="20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45AD0FAE-7063-28C0-10F9-91C4F9401D0A}"/>
              </a:ext>
            </a:extLst>
          </p:cNvPr>
          <p:cNvGrpSpPr/>
          <p:nvPr/>
        </p:nvGrpSpPr>
        <p:grpSpPr>
          <a:xfrm>
            <a:off x="0" y="0"/>
            <a:ext cx="12192000" cy="1289538"/>
            <a:chOff x="0" y="0"/>
            <a:chExt cx="12192000" cy="1289538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E94AA942-1317-67FD-196F-0B455FCCF8F1}"/>
                </a:ext>
              </a:extLst>
            </p:cNvPr>
            <p:cNvSpPr/>
            <p:nvPr/>
          </p:nvSpPr>
          <p:spPr>
            <a:xfrm>
              <a:off x="0" y="0"/>
              <a:ext cx="12192000" cy="1289538"/>
            </a:xfrm>
            <a:prstGeom prst="rect">
              <a:avLst/>
            </a:prstGeom>
            <a:solidFill>
              <a:srgbClr val="FFC00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992D3E3C-6E6A-53C3-8BDD-8049906789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81138" y="59860"/>
              <a:ext cx="1813895" cy="1169818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7036442-077B-A5BB-E20D-9C7EBE506E1A}"/>
              </a:ext>
            </a:extLst>
          </p:cNvPr>
          <p:cNvSpPr txBox="1"/>
          <p:nvPr/>
        </p:nvSpPr>
        <p:spPr>
          <a:xfrm>
            <a:off x="1325217" y="244862"/>
            <a:ext cx="88589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cs typeface="Times New Roman" panose="02020603050405020304" pitchFamily="18" charset="0"/>
              </a:rPr>
              <a:t>Глава 3: Используемые технологии в разработке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BA175F-FBAC-35A2-B067-AA8BD9391FFD}"/>
              </a:ext>
            </a:extLst>
          </p:cNvPr>
          <p:cNvSpPr txBox="1"/>
          <p:nvPr/>
        </p:nvSpPr>
        <p:spPr>
          <a:xfrm>
            <a:off x="-76289" y="1451964"/>
            <a:ext cx="11998066" cy="46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448056" algn="l" rtl="0" eaLnBrk="1" latinLnBrk="0" hangingPunct="1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18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Привести перечень технологий с обоснованием причины выбора</a:t>
            </a:r>
            <a:endParaRPr lang="ru-RU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246675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73444-7F95-D0B0-1CE8-75A2997C3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67E68AF-5081-6CB3-9239-9CC176D069AC}"/>
              </a:ext>
            </a:extLst>
          </p:cNvPr>
          <p:cNvSpPr txBox="1"/>
          <p:nvPr/>
        </p:nvSpPr>
        <p:spPr>
          <a:xfrm>
            <a:off x="-540742" y="222286"/>
            <a:ext cx="107249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исследования</a:t>
            </a:r>
          </a:p>
        </p:txBody>
      </p:sp>
      <p:sp>
        <p:nvSpPr>
          <p:cNvPr id="15" name="Номер слайда 20">
            <a:extLst>
              <a:ext uri="{FF2B5EF4-FFF2-40B4-BE49-F238E27FC236}">
                <a16:creationId xmlns:a16="http://schemas.microsoft.com/office/drawing/2014/main" id="{B0036580-4F37-E57A-AA7B-1ECBCC2E6114}"/>
              </a:ext>
            </a:extLst>
          </p:cNvPr>
          <p:cNvSpPr txBox="1">
            <a:spLocks/>
          </p:cNvSpPr>
          <p:nvPr/>
        </p:nvSpPr>
        <p:spPr>
          <a:xfrm>
            <a:off x="9536262" y="653016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27B114B-FCB6-4DCC-BE93-F9FFABFA546B}" type="slidenum">
              <a:rPr lang="ru-RU" sz="2000" b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20</a:t>
            </a:fld>
            <a:endParaRPr lang="ru-RU" sz="20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E8B4CF54-FC70-21F5-07A5-00D4A98546D3}"/>
              </a:ext>
            </a:extLst>
          </p:cNvPr>
          <p:cNvGrpSpPr/>
          <p:nvPr/>
        </p:nvGrpSpPr>
        <p:grpSpPr>
          <a:xfrm>
            <a:off x="0" y="0"/>
            <a:ext cx="12192000" cy="1289538"/>
            <a:chOff x="0" y="0"/>
            <a:chExt cx="12192000" cy="1289538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A95F0907-6195-6D8A-525A-C74079B30276}"/>
                </a:ext>
              </a:extLst>
            </p:cNvPr>
            <p:cNvSpPr/>
            <p:nvPr/>
          </p:nvSpPr>
          <p:spPr>
            <a:xfrm>
              <a:off x="0" y="0"/>
              <a:ext cx="12192000" cy="1289538"/>
            </a:xfrm>
            <a:prstGeom prst="rect">
              <a:avLst/>
            </a:prstGeom>
            <a:solidFill>
              <a:srgbClr val="FFC00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944D63B7-8942-1745-EE17-97BCAC4C55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81138" y="59860"/>
              <a:ext cx="1813895" cy="1169818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B896080-BACA-6681-682B-6BA2DD825AB9}"/>
              </a:ext>
            </a:extLst>
          </p:cNvPr>
          <p:cNvSpPr txBox="1"/>
          <p:nvPr/>
        </p:nvSpPr>
        <p:spPr>
          <a:xfrm>
            <a:off x="1325217" y="244862"/>
            <a:ext cx="88589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cs typeface="Times New Roman" panose="02020603050405020304" pitchFamily="18" charset="0"/>
              </a:rPr>
              <a:t>Глава 3: Разработан </a:t>
            </a:r>
            <a:r>
              <a:rPr lang="en-US" sz="3200" dirty="0">
                <a:cs typeface="Times New Roman" panose="02020603050405020304" pitchFamily="18" charset="0"/>
              </a:rPr>
              <a:t>User Flow </a:t>
            </a:r>
            <a:r>
              <a:rPr lang="ru-RU" sz="3200" dirty="0">
                <a:cs typeface="Times New Roman" panose="02020603050405020304" pitchFamily="18" charset="0"/>
              </a:rPr>
              <a:t>и интерфейсы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1E3007-C74E-5096-E371-03BEC6178D5A}"/>
              </a:ext>
            </a:extLst>
          </p:cNvPr>
          <p:cNvSpPr txBox="1"/>
          <p:nvPr/>
        </p:nvSpPr>
        <p:spPr>
          <a:xfrm>
            <a:off x="-76289" y="1451964"/>
            <a:ext cx="11998066" cy="46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448056" algn="l" rtl="0" eaLnBrk="1" latinLnBrk="0" hangingPunct="1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18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Описать </a:t>
            </a:r>
            <a:r>
              <a:rPr lang="en-US" sz="18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 Flow, </a:t>
            </a:r>
            <a:r>
              <a:rPr lang="ru-RU" sz="18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интерфейсы (можно на примере </a:t>
            </a:r>
            <a:r>
              <a:rPr lang="ru-RU" sz="1800" kern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мокапов</a:t>
            </a:r>
            <a:r>
              <a:rPr lang="ru-RU" sz="18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в </a:t>
            </a:r>
            <a:r>
              <a:rPr lang="en-US" sz="18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Figma)</a:t>
            </a:r>
            <a:endParaRPr lang="ru-RU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322626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3F82F-5DFF-B31A-552D-D3E1E6DE8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8384E5C-1110-18CB-DDB9-6870459C7194}"/>
              </a:ext>
            </a:extLst>
          </p:cNvPr>
          <p:cNvSpPr txBox="1"/>
          <p:nvPr/>
        </p:nvSpPr>
        <p:spPr>
          <a:xfrm>
            <a:off x="-540742" y="222286"/>
            <a:ext cx="107249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исследования</a:t>
            </a:r>
          </a:p>
        </p:txBody>
      </p:sp>
      <p:sp>
        <p:nvSpPr>
          <p:cNvPr id="15" name="Номер слайда 20">
            <a:extLst>
              <a:ext uri="{FF2B5EF4-FFF2-40B4-BE49-F238E27FC236}">
                <a16:creationId xmlns:a16="http://schemas.microsoft.com/office/drawing/2014/main" id="{A516E52F-2028-1E13-83DD-3EA61B681D78}"/>
              </a:ext>
            </a:extLst>
          </p:cNvPr>
          <p:cNvSpPr txBox="1">
            <a:spLocks/>
          </p:cNvSpPr>
          <p:nvPr/>
        </p:nvSpPr>
        <p:spPr>
          <a:xfrm>
            <a:off x="9536262" y="653016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27B114B-FCB6-4DCC-BE93-F9FFABFA546B}" type="slidenum">
              <a:rPr lang="ru-RU" sz="2000" b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21</a:t>
            </a:fld>
            <a:endParaRPr lang="ru-RU" sz="20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F6606A69-FB52-B226-295A-3F6A1634CBD3}"/>
              </a:ext>
            </a:extLst>
          </p:cNvPr>
          <p:cNvGrpSpPr/>
          <p:nvPr/>
        </p:nvGrpSpPr>
        <p:grpSpPr>
          <a:xfrm>
            <a:off x="0" y="0"/>
            <a:ext cx="12192000" cy="1289538"/>
            <a:chOff x="0" y="0"/>
            <a:chExt cx="12192000" cy="1289538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5B09CECC-F96D-D18D-C165-87DA3292B32B}"/>
                </a:ext>
              </a:extLst>
            </p:cNvPr>
            <p:cNvSpPr/>
            <p:nvPr/>
          </p:nvSpPr>
          <p:spPr>
            <a:xfrm>
              <a:off x="0" y="0"/>
              <a:ext cx="12192000" cy="1289538"/>
            </a:xfrm>
            <a:prstGeom prst="rect">
              <a:avLst/>
            </a:prstGeom>
            <a:solidFill>
              <a:srgbClr val="FFC00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790490C1-E6CF-DB03-3C03-F75B38D190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81138" y="59860"/>
              <a:ext cx="1813895" cy="1169818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D8D257A-F0B3-0497-4217-1CA943F011EC}"/>
              </a:ext>
            </a:extLst>
          </p:cNvPr>
          <p:cNvSpPr txBox="1"/>
          <p:nvPr/>
        </p:nvSpPr>
        <p:spPr>
          <a:xfrm>
            <a:off x="1325217" y="244862"/>
            <a:ext cx="88589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cs typeface="Times New Roman" panose="02020603050405020304" pitchFamily="18" charset="0"/>
              </a:rPr>
              <a:t>Глава 3: Выводы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F298FC-BE27-2742-451C-25DCF2CB9713}"/>
              </a:ext>
            </a:extLst>
          </p:cNvPr>
          <p:cNvSpPr txBox="1"/>
          <p:nvPr/>
        </p:nvSpPr>
        <p:spPr>
          <a:xfrm>
            <a:off x="199817" y="1451964"/>
            <a:ext cx="11940987" cy="430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215">
              <a:lnSpc>
                <a:spcPct val="150000"/>
              </a:lnSpc>
              <a:spcAft>
                <a:spcPts val="800"/>
              </a:spcAft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Выводы к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й главе:</a:t>
            </a:r>
          </a:p>
          <a:p>
            <a:pPr indent="45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Были выбраны и обоснованы технологии …..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подходящие для решения поставленных задач: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перечислите каких, например,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высокой производительности, масштабируемости, удобной интеграции с базами данных и построения микросервисной архитектуры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Подбор технологий подтверждён актуальными исследованиями 2023–2025 годов.</a:t>
            </a:r>
          </a:p>
          <a:p>
            <a:pPr indent="45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Спроектированы: </a:t>
            </a:r>
          </a:p>
          <a:p>
            <a:pPr lvl="1" indent="45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lvl="1" indent="45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укажите какие основные алгоритмы, модели, методы вы разработали и для чего они служат.</a:t>
            </a:r>
          </a:p>
          <a:p>
            <a:pPr indent="45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Реализованы процессы:</a:t>
            </a:r>
          </a:p>
          <a:p>
            <a:pPr lvl="1" indent="45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lvl="1" indent="45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опишите кратко позитивные юзер-флоу.</a:t>
            </a:r>
          </a:p>
        </p:txBody>
      </p:sp>
    </p:spTree>
    <p:extLst>
      <p:ext uri="{BB962C8B-B14F-4D97-AF65-F5344CB8AC3E}">
        <p14:creationId xmlns:p14="http://schemas.microsoft.com/office/powerpoint/2010/main" val="34347903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7F781D-409A-D57D-11D3-145AD009FE5C}"/>
              </a:ext>
            </a:extLst>
          </p:cNvPr>
          <p:cNvSpPr txBox="1"/>
          <p:nvPr/>
        </p:nvSpPr>
        <p:spPr>
          <a:xfrm>
            <a:off x="-540742" y="222286"/>
            <a:ext cx="107249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исследования</a:t>
            </a:r>
          </a:p>
        </p:txBody>
      </p:sp>
      <p:sp>
        <p:nvSpPr>
          <p:cNvPr id="15" name="Номер слайда 20">
            <a:extLst>
              <a:ext uri="{FF2B5EF4-FFF2-40B4-BE49-F238E27FC236}">
                <a16:creationId xmlns:a16="http://schemas.microsoft.com/office/drawing/2014/main" id="{90155156-79BF-FCFE-CE51-D40CE7FFE78B}"/>
              </a:ext>
            </a:extLst>
          </p:cNvPr>
          <p:cNvSpPr txBox="1">
            <a:spLocks/>
          </p:cNvSpPr>
          <p:nvPr/>
        </p:nvSpPr>
        <p:spPr>
          <a:xfrm>
            <a:off x="9536262" y="653016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27B114B-FCB6-4DCC-BE93-F9FFABFA546B}" type="slidenum">
              <a:rPr lang="ru-RU" sz="2000" b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22</a:t>
            </a:fld>
            <a:endParaRPr lang="ru-RU" sz="20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61A17FCB-DD4F-50C7-FE11-859E6910DBFC}"/>
              </a:ext>
            </a:extLst>
          </p:cNvPr>
          <p:cNvGrpSpPr/>
          <p:nvPr/>
        </p:nvGrpSpPr>
        <p:grpSpPr>
          <a:xfrm>
            <a:off x="0" y="0"/>
            <a:ext cx="12192000" cy="1289538"/>
            <a:chOff x="0" y="0"/>
            <a:chExt cx="12192000" cy="1289538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CFF31385-C6F0-63A1-8599-14BA045EBDFB}"/>
                </a:ext>
              </a:extLst>
            </p:cNvPr>
            <p:cNvSpPr/>
            <p:nvPr/>
          </p:nvSpPr>
          <p:spPr>
            <a:xfrm>
              <a:off x="0" y="0"/>
              <a:ext cx="12192000" cy="1289538"/>
            </a:xfrm>
            <a:prstGeom prst="rect">
              <a:avLst/>
            </a:prstGeom>
            <a:solidFill>
              <a:srgbClr val="FFC00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E924C005-4552-404D-BB25-D1A0BBD530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81138" y="59860"/>
              <a:ext cx="1813895" cy="1169818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746D183-C157-B29C-0006-093A0878D39B}"/>
              </a:ext>
            </a:extLst>
          </p:cNvPr>
          <p:cNvSpPr txBox="1"/>
          <p:nvPr/>
        </p:nvSpPr>
        <p:spPr>
          <a:xfrm>
            <a:off x="1325217" y="244862"/>
            <a:ext cx="88589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cs typeface="Times New Roman" panose="02020603050405020304" pitchFamily="18" charset="0"/>
              </a:rPr>
              <a:t>Научная новизна и практическая значимость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A82EDE-F712-1FCD-9FCB-E56A773B1303}"/>
              </a:ext>
            </a:extLst>
          </p:cNvPr>
          <p:cNvSpPr txBox="1"/>
          <p:nvPr/>
        </p:nvSpPr>
        <p:spPr>
          <a:xfrm>
            <a:off x="0" y="1451964"/>
            <a:ext cx="12192000" cy="1494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>
              <a:lnSpc>
                <a:spcPct val="150000"/>
              </a:lnSpc>
              <a:spcAft>
                <a:spcPts val="800"/>
              </a:spcAft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Научная новизна:</a:t>
            </a:r>
          </a:p>
          <a:p>
            <a:pPr marL="1069975" indent="-354013">
              <a:lnSpc>
                <a:spcPct val="150000"/>
              </a:lnSpc>
              <a:spcAft>
                <a:spcPts val="800"/>
              </a:spcAft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…</a:t>
            </a:r>
          </a:p>
          <a:p>
            <a:pPr marL="1069975" indent="-354013">
              <a:lnSpc>
                <a:spcPct val="150000"/>
              </a:lnSpc>
              <a:spcAft>
                <a:spcPts val="800"/>
              </a:spcAft>
              <a:buFontTx/>
              <a:buChar char="-"/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...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19BBA7-CF61-B4FA-B066-1343CCA7ECC8}"/>
              </a:ext>
            </a:extLst>
          </p:cNvPr>
          <p:cNvSpPr txBox="1"/>
          <p:nvPr/>
        </p:nvSpPr>
        <p:spPr>
          <a:xfrm>
            <a:off x="0" y="3828643"/>
            <a:ext cx="12192000" cy="1494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>
              <a:lnSpc>
                <a:spcPct val="150000"/>
              </a:lnSpc>
              <a:spcAft>
                <a:spcPts val="800"/>
              </a:spcAft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Практическая значимость:</a:t>
            </a:r>
          </a:p>
          <a:p>
            <a:pPr marL="1069975" indent="-354013">
              <a:lnSpc>
                <a:spcPct val="150000"/>
              </a:lnSpc>
              <a:spcAft>
                <a:spcPts val="800"/>
              </a:spcAft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…</a:t>
            </a:r>
          </a:p>
          <a:p>
            <a:pPr marL="1069975" indent="-354013">
              <a:lnSpc>
                <a:spcPct val="150000"/>
              </a:lnSpc>
              <a:spcAft>
                <a:spcPts val="800"/>
              </a:spcAft>
              <a:buFontTx/>
              <a:buChar char="-"/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2476140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7F781D-409A-D57D-11D3-145AD009FE5C}"/>
              </a:ext>
            </a:extLst>
          </p:cNvPr>
          <p:cNvSpPr txBox="1"/>
          <p:nvPr/>
        </p:nvSpPr>
        <p:spPr>
          <a:xfrm>
            <a:off x="-540742" y="222286"/>
            <a:ext cx="107249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исследования</a:t>
            </a:r>
          </a:p>
        </p:txBody>
      </p:sp>
      <p:sp>
        <p:nvSpPr>
          <p:cNvPr id="15" name="Номер слайда 20">
            <a:extLst>
              <a:ext uri="{FF2B5EF4-FFF2-40B4-BE49-F238E27FC236}">
                <a16:creationId xmlns:a16="http://schemas.microsoft.com/office/drawing/2014/main" id="{90155156-79BF-FCFE-CE51-D40CE7FFE78B}"/>
              </a:ext>
            </a:extLst>
          </p:cNvPr>
          <p:cNvSpPr txBox="1">
            <a:spLocks/>
          </p:cNvSpPr>
          <p:nvPr/>
        </p:nvSpPr>
        <p:spPr>
          <a:xfrm>
            <a:off x="9536262" y="653016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27B114B-FCB6-4DCC-BE93-F9FFABFA546B}" type="slidenum">
              <a:rPr lang="ru-RU" sz="2000" b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23</a:t>
            </a:fld>
            <a:endParaRPr lang="ru-RU" sz="20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61A17FCB-DD4F-50C7-FE11-859E6910DBFC}"/>
              </a:ext>
            </a:extLst>
          </p:cNvPr>
          <p:cNvGrpSpPr/>
          <p:nvPr/>
        </p:nvGrpSpPr>
        <p:grpSpPr>
          <a:xfrm>
            <a:off x="0" y="0"/>
            <a:ext cx="12192000" cy="1289538"/>
            <a:chOff x="0" y="0"/>
            <a:chExt cx="12192000" cy="1289538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CFF31385-C6F0-63A1-8599-14BA045EBDFB}"/>
                </a:ext>
              </a:extLst>
            </p:cNvPr>
            <p:cNvSpPr/>
            <p:nvPr/>
          </p:nvSpPr>
          <p:spPr>
            <a:xfrm>
              <a:off x="0" y="0"/>
              <a:ext cx="12192000" cy="1289538"/>
            </a:xfrm>
            <a:prstGeom prst="rect">
              <a:avLst/>
            </a:prstGeom>
            <a:solidFill>
              <a:srgbClr val="FFC00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E924C005-4552-404D-BB25-D1A0BBD530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81138" y="59860"/>
              <a:ext cx="1813895" cy="1169818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746D183-C157-B29C-0006-093A0878D39B}"/>
              </a:ext>
            </a:extLst>
          </p:cNvPr>
          <p:cNvSpPr txBox="1"/>
          <p:nvPr/>
        </p:nvSpPr>
        <p:spPr>
          <a:xfrm>
            <a:off x="1325217" y="244862"/>
            <a:ext cx="88589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cs typeface="Times New Roman" panose="02020603050405020304" pitchFamily="18" charset="0"/>
              </a:rPr>
              <a:t>Опубликованные работы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A82EDE-F712-1FCD-9FCB-E56A773B1303}"/>
              </a:ext>
            </a:extLst>
          </p:cNvPr>
          <p:cNvSpPr txBox="1"/>
          <p:nvPr/>
        </p:nvSpPr>
        <p:spPr>
          <a:xfrm>
            <a:off x="0" y="1451964"/>
            <a:ext cx="12192000" cy="1494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>
              <a:lnSpc>
                <a:spcPct val="150000"/>
              </a:lnSpc>
              <a:spcAft>
                <a:spcPts val="800"/>
              </a:spcAft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Опубликованные работы и доклады на конференциях:</a:t>
            </a:r>
          </a:p>
          <a:p>
            <a:pPr marL="1069975" indent="-354013">
              <a:lnSpc>
                <a:spcPct val="150000"/>
              </a:lnSpc>
              <a:spcAft>
                <a:spcPts val="800"/>
              </a:spcAft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…</a:t>
            </a:r>
          </a:p>
          <a:p>
            <a:pPr marL="1069975" indent="-354013">
              <a:lnSpc>
                <a:spcPct val="150000"/>
              </a:lnSpc>
              <a:spcAft>
                <a:spcPts val="800"/>
              </a:spcAft>
              <a:buFontTx/>
              <a:buChar char="-"/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41281820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74D49D-7605-0DC5-491E-153967591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B079A9-F934-C3D4-B364-ADF3A3133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372B02F-70A0-7038-0F74-3997A6C93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114B-FCB6-4DCC-BE93-F9FFABFA546B}" type="slidenum">
              <a:rPr lang="ru-RU" smtClean="0"/>
              <a:t>24</a:t>
            </a:fld>
            <a:endParaRPr lang="ru-RU"/>
          </a:p>
        </p:txBody>
      </p:sp>
      <p:pic>
        <p:nvPicPr>
          <p:cNvPr id="5" name="Рисунок 3">
            <a:extLst>
              <a:ext uri="{FF2B5EF4-FFF2-40B4-BE49-F238E27FC236}">
                <a16:creationId xmlns:a16="http://schemas.microsoft.com/office/drawing/2014/main" id="{0314F9B2-2095-D3EF-9CE7-C0A87194B0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D5CD0AD-4A1E-A9C0-53D1-96653BDF06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8909" y="0"/>
            <a:ext cx="985754" cy="1123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99EC85-9AB0-EEE1-3B37-64CF0FC979BA}"/>
              </a:ext>
            </a:extLst>
          </p:cNvPr>
          <p:cNvSpPr txBox="1"/>
          <p:nvPr/>
        </p:nvSpPr>
        <p:spPr>
          <a:xfrm>
            <a:off x="2738899" y="2467278"/>
            <a:ext cx="840856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2467332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1750</TotalTime>
  <Words>1215</Words>
  <Application>Microsoft Macintosh PowerPoint</Application>
  <PresentationFormat>Широкоэкранный</PresentationFormat>
  <Paragraphs>198</Paragraphs>
  <Slides>24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9" baseType="lpstr">
      <vt:lpstr>Arial</vt:lpstr>
      <vt:lpstr>Calibri</vt:lpstr>
      <vt:lpstr>Times New Roman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79178</dc:creator>
  <cp:lastModifiedBy>Microsoft Office User</cp:lastModifiedBy>
  <cp:revision>90</cp:revision>
  <dcterms:created xsi:type="dcterms:W3CDTF">2021-09-09T08:30:02Z</dcterms:created>
  <dcterms:modified xsi:type="dcterms:W3CDTF">2025-11-25T10:07:19Z</dcterms:modified>
</cp:coreProperties>
</file>